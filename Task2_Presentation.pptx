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512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09728"/>
          </a:xfrm>
          <a:prstGeom prst="rect">
            <a:avLst/>
          </a:prstGeom>
          <a:solidFill>
            <a:srgbClr val="00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446520"/>
            <a:ext cx="12188952" cy="411480"/>
          </a:xfrm>
          <a:prstGeom prst="rect">
            <a:avLst/>
          </a:prstGeom>
          <a:solidFill>
            <a:srgbClr val="0A1F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6519672"/>
            <a:ext cx="8229600" cy="292608"/>
          </a:xfrm>
          <a:prstGeom prst="rect">
            <a:avLst/>
          </a:prstGeom>
          <a:noFill/>
        </p:spPr>
        <p:txBody>
          <a:bodyPr wrap="square" lIns="0" rIns="0" tIns="0" bIns="0">
            <a:spAutoFit/>
          </a:bodyPr>
          <a:lstStyle/>
          <a:p>
            <a:pPr>
              <a:defRPr sz="1000" b="0">
                <a:solidFill>
                  <a:srgbClr val="FFFFFF"/>
                </a:solidFill>
                <a:latin typeface="Calibri"/>
              </a:defRPr>
            </a:pPr>
            <a:r>
              <a:t>IoT Botnet Detection  •  Linux Team Project  •  Alabama A&amp;M University</a:t>
            </a:r>
          </a:p>
        </p:txBody>
      </p:sp>
      <p:sp>
        <p:nvSpPr>
          <p:cNvPr id="6" name="TextBox 5"/>
          <p:cNvSpPr txBox="1"/>
          <p:nvPr/>
        </p:nvSpPr>
        <p:spPr>
          <a:xfrm>
            <a:off x="10972800" y="6519672"/>
            <a:ext cx="1097280" cy="292608"/>
          </a:xfrm>
          <a:prstGeom prst="rect">
            <a:avLst/>
          </a:prstGeom>
          <a:noFill/>
        </p:spPr>
        <p:txBody>
          <a:bodyPr wrap="square" lIns="0" rIns="0" tIns="0" bIns="0">
            <a:spAutoFit/>
          </a:bodyPr>
          <a:lstStyle/>
          <a:p>
            <a:pPr algn="r">
              <a:defRPr sz="1000" b="1">
                <a:solidFill>
                  <a:srgbClr val="00C8C8"/>
                </a:solidFill>
                <a:latin typeface="Calibri"/>
              </a:defRPr>
            </a:pPr>
            <a:r>
              <a:t>01 / 10</a:t>
            </a:r>
          </a:p>
        </p:txBody>
      </p:sp>
      <p:sp>
        <p:nvSpPr>
          <p:cNvPr id="7" name="Rectangle 6"/>
          <p:cNvSpPr/>
          <p:nvPr/>
        </p:nvSpPr>
        <p:spPr>
          <a:xfrm>
            <a:off x="8686800" y="0"/>
            <a:ext cx="3502152" cy="6858000"/>
          </a:xfrm>
          <a:prstGeom prst="rect">
            <a:avLst/>
          </a:prstGeom>
          <a:solidFill>
            <a:srgbClr val="0A1F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595360" y="0"/>
            <a:ext cx="73152" cy="6858000"/>
          </a:xfrm>
          <a:prstGeom prst="rect">
            <a:avLst/>
          </a:prstGeom>
          <a:solidFill>
            <a:srgbClr val="00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463040"/>
            <a:ext cx="9144000" cy="365760"/>
          </a:xfrm>
          <a:prstGeom prst="rect">
            <a:avLst/>
          </a:prstGeom>
          <a:noFill/>
        </p:spPr>
        <p:txBody>
          <a:bodyPr wrap="square" lIns="0" rIns="0" tIns="0" bIns="0">
            <a:spAutoFit/>
          </a:bodyPr>
          <a:lstStyle/>
          <a:p>
            <a:pPr>
              <a:defRPr sz="1400" b="1">
                <a:solidFill>
                  <a:srgbClr val="00C8C8"/>
                </a:solidFill>
                <a:latin typeface="Calibri"/>
              </a:defRPr>
            </a:pPr>
            <a:r>
              <a:t>CYBERSECURITY  •  IoT-23 DATASET</a:t>
            </a:r>
          </a:p>
        </p:txBody>
      </p:sp>
      <p:sp>
        <p:nvSpPr>
          <p:cNvPr id="10" name="TextBox 9"/>
          <p:cNvSpPr txBox="1"/>
          <p:nvPr/>
        </p:nvSpPr>
        <p:spPr>
          <a:xfrm>
            <a:off x="731520" y="1874519"/>
            <a:ext cx="10058400" cy="1280160"/>
          </a:xfrm>
          <a:prstGeom prst="rect">
            <a:avLst/>
          </a:prstGeom>
          <a:noFill/>
        </p:spPr>
        <p:txBody>
          <a:bodyPr wrap="square" lIns="0" rIns="0" tIns="0" bIns="0">
            <a:spAutoFit/>
          </a:bodyPr>
          <a:lstStyle/>
          <a:p>
            <a:pPr>
              <a:defRPr sz="6400" b="1">
                <a:solidFill>
                  <a:srgbClr val="FFFFFF"/>
                </a:solidFill>
                <a:latin typeface="Calibri"/>
              </a:defRPr>
            </a:pPr>
            <a:r>
              <a:t>Detecting IoT</a:t>
            </a:r>
          </a:p>
        </p:txBody>
      </p:sp>
      <p:sp>
        <p:nvSpPr>
          <p:cNvPr id="11" name="TextBox 10"/>
          <p:cNvSpPr txBox="1"/>
          <p:nvPr/>
        </p:nvSpPr>
        <p:spPr>
          <a:xfrm>
            <a:off x="731520" y="2788920"/>
            <a:ext cx="10058400" cy="1280160"/>
          </a:xfrm>
          <a:prstGeom prst="rect">
            <a:avLst/>
          </a:prstGeom>
          <a:noFill/>
        </p:spPr>
        <p:txBody>
          <a:bodyPr wrap="square" lIns="0" rIns="0" tIns="0" bIns="0">
            <a:spAutoFit/>
          </a:bodyPr>
          <a:lstStyle/>
          <a:p>
            <a:pPr>
              <a:defRPr sz="6400" b="1">
                <a:solidFill>
                  <a:srgbClr val="00C8C8"/>
                </a:solidFill>
                <a:latin typeface="Calibri"/>
              </a:defRPr>
            </a:pPr>
            <a:r>
              <a:t>Botnet Attacks</a:t>
            </a:r>
          </a:p>
        </p:txBody>
      </p:sp>
      <p:sp>
        <p:nvSpPr>
          <p:cNvPr id="12" name="TextBox 11"/>
          <p:cNvSpPr txBox="1"/>
          <p:nvPr/>
        </p:nvSpPr>
        <p:spPr>
          <a:xfrm>
            <a:off x="731520" y="4160520"/>
            <a:ext cx="10058400" cy="548640"/>
          </a:xfrm>
          <a:prstGeom prst="rect">
            <a:avLst/>
          </a:prstGeom>
          <a:noFill/>
        </p:spPr>
        <p:txBody>
          <a:bodyPr wrap="square" lIns="0" rIns="0" tIns="0" bIns="0">
            <a:spAutoFit/>
          </a:bodyPr>
          <a:lstStyle/>
          <a:p>
            <a:pPr>
              <a:defRPr sz="1800" b="0">
                <a:solidFill>
                  <a:srgbClr val="B8C4D6"/>
                </a:solidFill>
                <a:latin typeface="Calibri"/>
              </a:defRPr>
            </a:pPr>
            <a:r>
              <a:t>A machine learning pipeline for classifying real-world malware traffic</a:t>
            </a:r>
          </a:p>
        </p:txBody>
      </p:sp>
      <p:sp>
        <p:nvSpPr>
          <p:cNvPr id="13" name="Rectangle 12"/>
          <p:cNvSpPr/>
          <p:nvPr/>
        </p:nvSpPr>
        <p:spPr>
          <a:xfrm>
            <a:off x="731520" y="5029200"/>
            <a:ext cx="2286000" cy="36576"/>
          </a:xfrm>
          <a:prstGeom prst="rect">
            <a:avLst/>
          </a:prstGeom>
          <a:solidFill>
            <a:srgbClr val="00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5120640"/>
            <a:ext cx="10972800" cy="320040"/>
          </a:xfrm>
          <a:prstGeom prst="rect">
            <a:avLst/>
          </a:prstGeom>
          <a:noFill/>
        </p:spPr>
        <p:txBody>
          <a:bodyPr wrap="square" lIns="0" rIns="0" tIns="0" bIns="0">
            <a:spAutoFit/>
          </a:bodyPr>
          <a:lstStyle/>
          <a:p>
            <a:pPr>
              <a:defRPr sz="1100" b="1">
                <a:solidFill>
                  <a:srgbClr val="00C8C8"/>
                </a:solidFill>
                <a:latin typeface="Calibri"/>
              </a:defRPr>
            </a:pPr>
            <a:r>
              <a:t>TEAM</a:t>
            </a:r>
          </a:p>
        </p:txBody>
      </p:sp>
      <p:sp>
        <p:nvSpPr>
          <p:cNvPr id="15" name="TextBox 14"/>
          <p:cNvSpPr txBox="1"/>
          <p:nvPr/>
        </p:nvSpPr>
        <p:spPr>
          <a:xfrm>
            <a:off x="731520" y="5440680"/>
            <a:ext cx="10972800" cy="365760"/>
          </a:xfrm>
          <a:prstGeom prst="rect">
            <a:avLst/>
          </a:prstGeom>
          <a:noFill/>
        </p:spPr>
        <p:txBody>
          <a:bodyPr wrap="square" lIns="0" rIns="0" tIns="0" bIns="0">
            <a:spAutoFit/>
          </a:bodyPr>
          <a:lstStyle/>
          <a:p>
            <a:pPr>
              <a:defRPr sz="1500" b="0">
                <a:solidFill>
                  <a:srgbClr val="FFFFFF"/>
                </a:solidFill>
                <a:latin typeface="Calibri"/>
              </a:defRPr>
            </a:pPr>
            <a:r>
              <a:t>Thabo Ibrahim Traore  •  Jordan Barnes  •  Zizwe Mtonga  •  Tapiwa Musinga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09728"/>
          </a:xfrm>
          <a:prstGeom prst="rect">
            <a:avLst/>
          </a:prstGeom>
          <a:solidFill>
            <a:srgbClr val="00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446520"/>
            <a:ext cx="12188952" cy="411480"/>
          </a:xfrm>
          <a:prstGeom prst="rect">
            <a:avLst/>
          </a:prstGeom>
          <a:solidFill>
            <a:srgbClr val="0A1F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6519672"/>
            <a:ext cx="8229600" cy="292608"/>
          </a:xfrm>
          <a:prstGeom prst="rect">
            <a:avLst/>
          </a:prstGeom>
          <a:noFill/>
        </p:spPr>
        <p:txBody>
          <a:bodyPr wrap="square" lIns="0" rIns="0" tIns="0" bIns="0">
            <a:spAutoFit/>
          </a:bodyPr>
          <a:lstStyle/>
          <a:p>
            <a:pPr>
              <a:defRPr sz="1000" b="0">
                <a:solidFill>
                  <a:srgbClr val="FFFFFF"/>
                </a:solidFill>
                <a:latin typeface="Calibri"/>
              </a:defRPr>
            </a:pPr>
            <a:r>
              <a:t>IoT Botnet Detection  •  Linux Team Project  •  Alabama A&amp;M University</a:t>
            </a:r>
          </a:p>
        </p:txBody>
      </p:sp>
      <p:sp>
        <p:nvSpPr>
          <p:cNvPr id="6" name="TextBox 5"/>
          <p:cNvSpPr txBox="1"/>
          <p:nvPr/>
        </p:nvSpPr>
        <p:spPr>
          <a:xfrm>
            <a:off x="10972800" y="6519672"/>
            <a:ext cx="1097280" cy="292608"/>
          </a:xfrm>
          <a:prstGeom prst="rect">
            <a:avLst/>
          </a:prstGeom>
          <a:noFill/>
        </p:spPr>
        <p:txBody>
          <a:bodyPr wrap="square" lIns="0" rIns="0" tIns="0" bIns="0">
            <a:spAutoFit/>
          </a:bodyPr>
          <a:lstStyle/>
          <a:p>
            <a:pPr algn="r">
              <a:defRPr sz="1000" b="1">
                <a:solidFill>
                  <a:srgbClr val="00C8C8"/>
                </a:solidFill>
                <a:latin typeface="Calibri"/>
              </a:defRPr>
            </a:pPr>
            <a:r>
              <a:t>02 / 10</a:t>
            </a:r>
          </a:p>
        </p:txBody>
      </p:sp>
      <p:sp>
        <p:nvSpPr>
          <p:cNvPr id="7" name="Rectangle 6"/>
          <p:cNvSpPr/>
          <p:nvPr/>
        </p:nvSpPr>
        <p:spPr>
          <a:xfrm>
            <a:off x="365760" y="502920"/>
            <a:ext cx="109728" cy="868680"/>
          </a:xfrm>
          <a:prstGeom prst="rect">
            <a:avLst/>
          </a:prstGeom>
          <a:solidFill>
            <a:srgbClr val="00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502920"/>
            <a:ext cx="10972800" cy="320040"/>
          </a:xfrm>
          <a:prstGeom prst="rect">
            <a:avLst/>
          </a:prstGeom>
          <a:noFill/>
        </p:spPr>
        <p:txBody>
          <a:bodyPr wrap="square" lIns="0" rIns="0" tIns="0" bIns="0">
            <a:spAutoFit/>
          </a:bodyPr>
          <a:lstStyle/>
          <a:p>
            <a:pPr>
              <a:defRPr sz="1200" b="1">
                <a:solidFill>
                  <a:srgbClr val="00C8C8"/>
                </a:solidFill>
                <a:latin typeface="Calibri"/>
              </a:defRPr>
            </a:pPr>
            <a:r>
              <a:t>01  •  OBJECTIVE</a:t>
            </a:r>
          </a:p>
        </p:txBody>
      </p:sp>
      <p:sp>
        <p:nvSpPr>
          <p:cNvPr id="9" name="TextBox 8"/>
          <p:cNvSpPr txBox="1"/>
          <p:nvPr/>
        </p:nvSpPr>
        <p:spPr>
          <a:xfrm>
            <a:off x="640080" y="777240"/>
            <a:ext cx="11430000" cy="685800"/>
          </a:xfrm>
          <a:prstGeom prst="rect">
            <a:avLst/>
          </a:prstGeom>
          <a:noFill/>
        </p:spPr>
        <p:txBody>
          <a:bodyPr wrap="square" lIns="0" rIns="0" tIns="0" bIns="0">
            <a:spAutoFit/>
          </a:bodyPr>
          <a:lstStyle/>
          <a:p>
            <a:pPr>
              <a:defRPr sz="3000" b="1">
                <a:solidFill>
                  <a:srgbClr val="0A1F3D"/>
                </a:solidFill>
                <a:latin typeface="Calibri"/>
              </a:defRPr>
            </a:pPr>
            <a:r>
              <a:t>What problem are we solving?</a:t>
            </a:r>
          </a:p>
        </p:txBody>
      </p:sp>
      <p:sp>
        <p:nvSpPr>
          <p:cNvPr id="10" name="Rectangle 9"/>
          <p:cNvSpPr/>
          <p:nvPr/>
        </p:nvSpPr>
        <p:spPr>
          <a:xfrm>
            <a:off x="365760" y="1417320"/>
            <a:ext cx="11430000" cy="2286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1783080"/>
            <a:ext cx="5669280"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1783080"/>
            <a:ext cx="5669280" cy="73152"/>
          </a:xfrm>
          <a:prstGeom prst="rect">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5800" y="1965960"/>
            <a:ext cx="5303520" cy="411480"/>
          </a:xfrm>
          <a:prstGeom prst="rect">
            <a:avLst/>
          </a:prstGeom>
          <a:noFill/>
        </p:spPr>
        <p:txBody>
          <a:bodyPr wrap="square" lIns="0" rIns="0" tIns="0" bIns="0">
            <a:spAutoFit/>
          </a:bodyPr>
          <a:lstStyle/>
          <a:p>
            <a:pPr>
              <a:defRPr sz="1200" b="1">
                <a:solidFill>
                  <a:srgbClr val="E74C3C"/>
                </a:solidFill>
                <a:latin typeface="Calibri"/>
              </a:defRPr>
            </a:pPr>
            <a:r>
              <a:t>THE PROBLEM</a:t>
            </a:r>
          </a:p>
        </p:txBody>
      </p:sp>
      <p:sp>
        <p:nvSpPr>
          <p:cNvPr id="14" name="TextBox 13"/>
          <p:cNvSpPr txBox="1"/>
          <p:nvPr/>
        </p:nvSpPr>
        <p:spPr>
          <a:xfrm>
            <a:off x="685800" y="2331720"/>
            <a:ext cx="5303520" cy="548640"/>
          </a:xfrm>
          <a:prstGeom prst="rect">
            <a:avLst/>
          </a:prstGeom>
          <a:noFill/>
        </p:spPr>
        <p:txBody>
          <a:bodyPr wrap="square" lIns="0" rIns="0" tIns="0" bIns="0">
            <a:spAutoFit/>
          </a:bodyPr>
          <a:lstStyle/>
          <a:p>
            <a:pPr>
              <a:defRPr sz="2000" b="1">
                <a:solidFill>
                  <a:srgbClr val="0A1F3D"/>
                </a:solidFill>
                <a:latin typeface="Calibri"/>
              </a:defRPr>
            </a:pPr>
            <a:r>
              <a:t>IoT devices are easy targets</a:t>
            </a:r>
          </a:p>
        </p:txBody>
      </p:sp>
      <p:sp>
        <p:nvSpPr>
          <p:cNvPr id="15" name="TextBox 14"/>
          <p:cNvSpPr txBox="1"/>
          <p:nvPr/>
        </p:nvSpPr>
        <p:spPr>
          <a:xfrm>
            <a:off x="685800" y="2971800"/>
            <a:ext cx="5303520" cy="2926080"/>
          </a:xfrm>
          <a:prstGeom prst="rect">
            <a:avLst/>
          </a:prstGeom>
          <a:noFill/>
        </p:spPr>
        <p:txBody>
          <a:bodyPr wrap="square" lIns="0" rIns="0" tIns="0" bIns="0">
            <a:spAutoFit/>
          </a:bodyPr>
          <a:lstStyle/>
          <a:p>
            <a:pPr>
              <a:defRPr sz="1400" b="0">
                <a:solidFill>
                  <a:srgbClr val="475569"/>
                </a:solidFill>
                <a:latin typeface="Calibri"/>
              </a:defRPr>
            </a:pPr>
            <a:r>
              <a:t>Smart cameras, routers, and home gear get hijacked into botnets and used for DDoS attacks, data theft, and malware propagation. Detecting infections by hand is impossible at the scale of modern networks — automation is required.</a:t>
            </a:r>
          </a:p>
        </p:txBody>
      </p:sp>
      <p:sp>
        <p:nvSpPr>
          <p:cNvPr id="16" name="Rectangle 15"/>
          <p:cNvSpPr/>
          <p:nvPr/>
        </p:nvSpPr>
        <p:spPr>
          <a:xfrm>
            <a:off x="6263640" y="1783080"/>
            <a:ext cx="5486400"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63640" y="1783080"/>
            <a:ext cx="5486400" cy="73152"/>
          </a:xfrm>
          <a:prstGeom prst="rect">
            <a:avLst/>
          </a:prstGeom>
          <a:solidFill>
            <a:srgbClr val="00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92240" y="1965960"/>
            <a:ext cx="5120640" cy="411480"/>
          </a:xfrm>
          <a:prstGeom prst="rect">
            <a:avLst/>
          </a:prstGeom>
          <a:noFill/>
        </p:spPr>
        <p:txBody>
          <a:bodyPr wrap="square" lIns="0" rIns="0" tIns="0" bIns="0">
            <a:spAutoFit/>
          </a:bodyPr>
          <a:lstStyle/>
          <a:p>
            <a:pPr>
              <a:defRPr sz="1200" b="1">
                <a:solidFill>
                  <a:srgbClr val="00C8C8"/>
                </a:solidFill>
                <a:latin typeface="Calibri"/>
              </a:defRPr>
            </a:pPr>
            <a:r>
              <a:t>OUR GOAL</a:t>
            </a:r>
          </a:p>
        </p:txBody>
      </p:sp>
      <p:sp>
        <p:nvSpPr>
          <p:cNvPr id="19" name="TextBox 18"/>
          <p:cNvSpPr txBox="1"/>
          <p:nvPr/>
        </p:nvSpPr>
        <p:spPr>
          <a:xfrm>
            <a:off x="6492240" y="2331720"/>
            <a:ext cx="5120640" cy="548640"/>
          </a:xfrm>
          <a:prstGeom prst="rect">
            <a:avLst/>
          </a:prstGeom>
          <a:noFill/>
        </p:spPr>
        <p:txBody>
          <a:bodyPr wrap="square" lIns="0" rIns="0" tIns="0" bIns="0">
            <a:spAutoFit/>
          </a:bodyPr>
          <a:lstStyle/>
          <a:p>
            <a:pPr>
              <a:defRPr sz="2000" b="1">
                <a:solidFill>
                  <a:srgbClr val="0A1F3D"/>
                </a:solidFill>
                <a:latin typeface="Calibri"/>
              </a:defRPr>
            </a:pPr>
            <a:r>
              <a:t>Automate intrusion detection</a:t>
            </a:r>
          </a:p>
        </p:txBody>
      </p:sp>
      <p:sp>
        <p:nvSpPr>
          <p:cNvPr id="20" name="TextBox 19"/>
          <p:cNvSpPr txBox="1"/>
          <p:nvPr/>
        </p:nvSpPr>
        <p:spPr>
          <a:xfrm>
            <a:off x="6492240" y="2971800"/>
            <a:ext cx="5120640" cy="2926080"/>
          </a:xfrm>
          <a:prstGeom prst="rect">
            <a:avLst/>
          </a:prstGeom>
          <a:noFill/>
        </p:spPr>
        <p:txBody>
          <a:bodyPr wrap="square">
            <a:spAutoFit/>
          </a:bodyPr>
          <a:lstStyle/>
          <a:p>
            <a:pPr>
              <a:spcAft>
                <a:spcPts val="1000"/>
              </a:spcAft>
            </a:pPr>
            <a:r>
              <a:rPr sz="1400" b="1">
                <a:solidFill>
                  <a:srgbClr val="00C8C8"/>
                </a:solidFill>
                <a:latin typeface="Calibri"/>
              </a:rPr>
              <a:t>▸  </a:t>
            </a:r>
            <a:r>
              <a:rPr sz="1400">
                <a:solidFill>
                  <a:srgbClr val="1A202C"/>
                </a:solidFill>
                <a:latin typeface="Calibri"/>
              </a:rPr>
              <a:t>Classify network connections as benign or malicious</a:t>
            </a:r>
          </a:p>
          <a:p>
            <a:pPr>
              <a:spcAft>
                <a:spcPts val="1000"/>
              </a:spcAft>
            </a:pPr>
            <a:r>
              <a:rPr sz="1400" b="1">
                <a:solidFill>
                  <a:srgbClr val="00C8C8"/>
                </a:solidFill>
                <a:latin typeface="Calibri"/>
              </a:rPr>
              <a:t>▸  </a:t>
            </a:r>
            <a:r>
              <a:rPr sz="1400">
                <a:solidFill>
                  <a:srgbClr val="1A202C"/>
                </a:solidFill>
                <a:latin typeface="Calibri"/>
              </a:rPr>
              <a:t>Identify which features best predict attacks</a:t>
            </a:r>
          </a:p>
          <a:p>
            <a:pPr>
              <a:spcAft>
                <a:spcPts val="1000"/>
              </a:spcAft>
            </a:pPr>
            <a:r>
              <a:rPr sz="1400" b="1">
                <a:solidFill>
                  <a:srgbClr val="00C8C8"/>
                </a:solidFill>
                <a:latin typeface="Calibri"/>
              </a:rPr>
              <a:t>▸  </a:t>
            </a:r>
            <a:r>
              <a:rPr sz="1400">
                <a:solidFill>
                  <a:srgbClr val="1A202C"/>
                </a:solidFill>
                <a:latin typeface="Calibri"/>
              </a:rPr>
              <a:t>Run the pipeline on the ASAX supercomputer</a:t>
            </a:r>
          </a:p>
          <a:p>
            <a:pPr>
              <a:spcAft>
                <a:spcPts val="1000"/>
              </a:spcAft>
            </a:pPr>
            <a:r>
              <a:rPr sz="1400" b="1">
                <a:solidFill>
                  <a:srgbClr val="00C8C8"/>
                </a:solidFill>
                <a:latin typeface="Calibri"/>
              </a:rPr>
              <a:t>▸  </a:t>
            </a:r>
            <a:r>
              <a:rPr sz="1400">
                <a:solidFill>
                  <a:srgbClr val="1A202C"/>
                </a:solidFill>
                <a:latin typeface="Calibri"/>
              </a:rPr>
              <a:t>Hit high accuracy on real-world malware traffic</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09728"/>
          </a:xfrm>
          <a:prstGeom prst="rect">
            <a:avLst/>
          </a:prstGeom>
          <a:solidFill>
            <a:srgbClr val="00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446520"/>
            <a:ext cx="12188952" cy="411480"/>
          </a:xfrm>
          <a:prstGeom prst="rect">
            <a:avLst/>
          </a:prstGeom>
          <a:solidFill>
            <a:srgbClr val="0A1F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6519672"/>
            <a:ext cx="8229600" cy="292608"/>
          </a:xfrm>
          <a:prstGeom prst="rect">
            <a:avLst/>
          </a:prstGeom>
          <a:noFill/>
        </p:spPr>
        <p:txBody>
          <a:bodyPr wrap="square" lIns="0" rIns="0" tIns="0" bIns="0">
            <a:spAutoFit/>
          </a:bodyPr>
          <a:lstStyle/>
          <a:p>
            <a:pPr>
              <a:defRPr sz="1000" b="0">
                <a:solidFill>
                  <a:srgbClr val="FFFFFF"/>
                </a:solidFill>
                <a:latin typeface="Calibri"/>
              </a:defRPr>
            </a:pPr>
            <a:r>
              <a:t>IoT Botnet Detection  •  Linux Team Project  •  Alabama A&amp;M University</a:t>
            </a:r>
          </a:p>
        </p:txBody>
      </p:sp>
      <p:sp>
        <p:nvSpPr>
          <p:cNvPr id="6" name="TextBox 5"/>
          <p:cNvSpPr txBox="1"/>
          <p:nvPr/>
        </p:nvSpPr>
        <p:spPr>
          <a:xfrm>
            <a:off x="10972800" y="6519672"/>
            <a:ext cx="1097280" cy="292608"/>
          </a:xfrm>
          <a:prstGeom prst="rect">
            <a:avLst/>
          </a:prstGeom>
          <a:noFill/>
        </p:spPr>
        <p:txBody>
          <a:bodyPr wrap="square" lIns="0" rIns="0" tIns="0" bIns="0">
            <a:spAutoFit/>
          </a:bodyPr>
          <a:lstStyle/>
          <a:p>
            <a:pPr algn="r">
              <a:defRPr sz="1000" b="1">
                <a:solidFill>
                  <a:srgbClr val="00C8C8"/>
                </a:solidFill>
                <a:latin typeface="Calibri"/>
              </a:defRPr>
            </a:pPr>
            <a:r>
              <a:t>03 / 10</a:t>
            </a:r>
          </a:p>
        </p:txBody>
      </p:sp>
      <p:sp>
        <p:nvSpPr>
          <p:cNvPr id="7" name="Rectangle 6"/>
          <p:cNvSpPr/>
          <p:nvPr/>
        </p:nvSpPr>
        <p:spPr>
          <a:xfrm>
            <a:off x="365760" y="502920"/>
            <a:ext cx="109728" cy="868680"/>
          </a:xfrm>
          <a:prstGeom prst="rect">
            <a:avLst/>
          </a:prstGeom>
          <a:solidFill>
            <a:srgbClr val="00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502920"/>
            <a:ext cx="10972800" cy="320040"/>
          </a:xfrm>
          <a:prstGeom prst="rect">
            <a:avLst/>
          </a:prstGeom>
          <a:noFill/>
        </p:spPr>
        <p:txBody>
          <a:bodyPr wrap="square" lIns="0" rIns="0" tIns="0" bIns="0">
            <a:spAutoFit/>
          </a:bodyPr>
          <a:lstStyle/>
          <a:p>
            <a:pPr>
              <a:defRPr sz="1200" b="1">
                <a:solidFill>
                  <a:srgbClr val="00C8C8"/>
                </a:solidFill>
                <a:latin typeface="Calibri"/>
              </a:defRPr>
            </a:pPr>
            <a:r>
              <a:t>02  •  DATASET</a:t>
            </a:r>
          </a:p>
        </p:txBody>
      </p:sp>
      <p:sp>
        <p:nvSpPr>
          <p:cNvPr id="9" name="TextBox 8"/>
          <p:cNvSpPr txBox="1"/>
          <p:nvPr/>
        </p:nvSpPr>
        <p:spPr>
          <a:xfrm>
            <a:off x="640080" y="777240"/>
            <a:ext cx="11430000" cy="685800"/>
          </a:xfrm>
          <a:prstGeom prst="rect">
            <a:avLst/>
          </a:prstGeom>
          <a:noFill/>
        </p:spPr>
        <p:txBody>
          <a:bodyPr wrap="square" lIns="0" rIns="0" tIns="0" bIns="0">
            <a:spAutoFit/>
          </a:bodyPr>
          <a:lstStyle/>
          <a:p>
            <a:pPr>
              <a:defRPr sz="3000" b="1">
                <a:solidFill>
                  <a:srgbClr val="0A1F3D"/>
                </a:solidFill>
                <a:latin typeface="Calibri"/>
              </a:defRPr>
            </a:pPr>
            <a:r>
              <a:t>IoT-23 — Real Malware Traffic</a:t>
            </a:r>
          </a:p>
        </p:txBody>
      </p:sp>
      <p:sp>
        <p:nvSpPr>
          <p:cNvPr id="10" name="Rectangle 9"/>
          <p:cNvSpPr/>
          <p:nvPr/>
        </p:nvSpPr>
        <p:spPr>
          <a:xfrm>
            <a:off x="365760" y="1417320"/>
            <a:ext cx="11430000" cy="2286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1783080"/>
            <a:ext cx="5943600" cy="457200"/>
          </a:xfrm>
          <a:prstGeom prst="rect">
            <a:avLst/>
          </a:prstGeom>
          <a:noFill/>
        </p:spPr>
        <p:txBody>
          <a:bodyPr wrap="square" lIns="0" rIns="0" tIns="0" bIns="0">
            <a:spAutoFit/>
          </a:bodyPr>
          <a:lstStyle/>
          <a:p>
            <a:pPr>
              <a:defRPr sz="1600" b="1">
                <a:solidFill>
                  <a:srgbClr val="0A1F3D"/>
                </a:solidFill>
                <a:latin typeface="Calibri"/>
              </a:defRPr>
            </a:pPr>
            <a:r>
              <a:t>23 IoT infection scenarios captured by Stratosphere Lab</a:t>
            </a:r>
          </a:p>
        </p:txBody>
      </p:sp>
      <p:sp>
        <p:nvSpPr>
          <p:cNvPr id="12" name="TextBox 11"/>
          <p:cNvSpPr txBox="1"/>
          <p:nvPr/>
        </p:nvSpPr>
        <p:spPr>
          <a:xfrm>
            <a:off x="640080" y="2423160"/>
            <a:ext cx="5943600" cy="3840480"/>
          </a:xfrm>
          <a:prstGeom prst="rect">
            <a:avLst/>
          </a:prstGeom>
          <a:noFill/>
        </p:spPr>
        <p:txBody>
          <a:bodyPr wrap="square">
            <a:spAutoFit/>
          </a:bodyPr>
          <a:lstStyle/>
          <a:p>
            <a:pPr>
              <a:spcAft>
                <a:spcPts val="1000"/>
              </a:spcAft>
            </a:pPr>
            <a:r>
              <a:rPr sz="1400" b="1">
                <a:solidFill>
                  <a:srgbClr val="00C8C8"/>
                </a:solidFill>
                <a:latin typeface="Calibri"/>
              </a:rPr>
              <a:t>▸  </a:t>
            </a:r>
            <a:r>
              <a:rPr sz="1400">
                <a:solidFill>
                  <a:srgbClr val="1A202C"/>
                </a:solidFill>
                <a:latin typeface="Calibri"/>
              </a:rPr>
              <a:t>Source: Stratosphere Laboratory, Czech Technical University</a:t>
            </a:r>
          </a:p>
          <a:p>
            <a:pPr>
              <a:spcAft>
                <a:spcPts val="1000"/>
              </a:spcAft>
            </a:pPr>
            <a:r>
              <a:rPr sz="1400" b="1">
                <a:solidFill>
                  <a:srgbClr val="00C8C8"/>
                </a:solidFill>
                <a:latin typeface="Calibri"/>
              </a:rPr>
              <a:t>▸  </a:t>
            </a:r>
            <a:r>
              <a:rPr sz="1400">
                <a:solidFill>
                  <a:srgbClr val="1A202C"/>
                </a:solidFill>
                <a:latin typeface="Calibri"/>
              </a:rPr>
              <a:t>1.88 million labeled network connections</a:t>
            </a:r>
          </a:p>
          <a:p>
            <a:pPr>
              <a:spcAft>
                <a:spcPts val="1000"/>
              </a:spcAft>
            </a:pPr>
            <a:r>
              <a:rPr sz="1400" b="1">
                <a:solidFill>
                  <a:srgbClr val="00C8C8"/>
                </a:solidFill>
                <a:latin typeface="Calibri"/>
              </a:rPr>
              <a:t>▸  </a:t>
            </a:r>
            <a:r>
              <a:rPr sz="1400">
                <a:solidFill>
                  <a:srgbClr val="1A202C"/>
                </a:solidFill>
                <a:latin typeface="Calibri"/>
              </a:rPr>
              <a:t>Captured from real malware — not simulated</a:t>
            </a:r>
          </a:p>
          <a:p>
            <a:pPr>
              <a:spcAft>
                <a:spcPts val="1000"/>
              </a:spcAft>
            </a:pPr>
            <a:r>
              <a:rPr sz="1400" b="1">
                <a:solidFill>
                  <a:srgbClr val="00C8C8"/>
                </a:solidFill>
                <a:latin typeface="Calibri"/>
              </a:rPr>
              <a:t>▸  </a:t>
            </a:r>
            <a:r>
              <a:rPr sz="1400">
                <a:solidFill>
                  <a:srgbClr val="1A202C"/>
                </a:solidFill>
                <a:latin typeface="Calibri"/>
              </a:rPr>
              <a:t>Includes Mirai, Torii, and Hajime botnets</a:t>
            </a:r>
          </a:p>
          <a:p>
            <a:pPr>
              <a:spcAft>
                <a:spcPts val="1000"/>
              </a:spcAft>
            </a:pPr>
            <a:r>
              <a:rPr sz="1400" b="1">
                <a:solidFill>
                  <a:srgbClr val="00C8C8"/>
                </a:solidFill>
                <a:latin typeface="Calibri"/>
              </a:rPr>
              <a:t>▸  </a:t>
            </a:r>
            <a:r>
              <a:rPr sz="1400">
                <a:solidFill>
                  <a:srgbClr val="1A202C"/>
                </a:solidFill>
                <a:latin typeface="Calibri"/>
              </a:rPr>
              <a:t>23 capture scenarios + benign device baseline</a:t>
            </a:r>
          </a:p>
          <a:p>
            <a:pPr>
              <a:spcAft>
                <a:spcPts val="1000"/>
              </a:spcAft>
            </a:pPr>
            <a:r>
              <a:rPr sz="1400" b="1">
                <a:solidFill>
                  <a:srgbClr val="00C8C8"/>
                </a:solidFill>
                <a:latin typeface="Calibri"/>
              </a:rPr>
              <a:t>▸  </a:t>
            </a:r>
            <a:r>
              <a:rPr sz="1400">
                <a:solidFill>
                  <a:srgbClr val="1A202C"/>
                </a:solidFill>
                <a:latin typeface="Calibri"/>
              </a:rPr>
              <a:t>37 features per connection (flow stats, protocol, ports)</a:t>
            </a:r>
          </a:p>
        </p:txBody>
      </p:sp>
      <p:sp>
        <p:nvSpPr>
          <p:cNvPr id="13" name="Rectangle 12"/>
          <p:cNvSpPr/>
          <p:nvPr/>
        </p:nvSpPr>
        <p:spPr>
          <a:xfrm>
            <a:off x="6949440" y="1783080"/>
            <a:ext cx="2377440" cy="141732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949440" y="1783080"/>
            <a:ext cx="2377440" cy="73152"/>
          </a:xfrm>
          <a:prstGeom prst="rect">
            <a:avLst/>
          </a:prstGeom>
          <a:solidFill>
            <a:srgbClr val="00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040879" y="2011680"/>
            <a:ext cx="2194560" cy="822960"/>
          </a:xfrm>
          <a:prstGeom prst="rect">
            <a:avLst/>
          </a:prstGeom>
          <a:noFill/>
        </p:spPr>
        <p:txBody>
          <a:bodyPr wrap="square" lIns="0" rIns="0" tIns="0" bIns="0">
            <a:spAutoFit/>
          </a:bodyPr>
          <a:lstStyle/>
          <a:p>
            <a:pPr algn="ctr">
              <a:defRPr sz="3400" b="1">
                <a:solidFill>
                  <a:srgbClr val="0A1F3D"/>
                </a:solidFill>
                <a:latin typeface="Calibri"/>
              </a:defRPr>
            </a:pPr>
            <a:r>
              <a:t>1.88M</a:t>
            </a:r>
          </a:p>
        </p:txBody>
      </p:sp>
      <p:sp>
        <p:nvSpPr>
          <p:cNvPr id="16" name="TextBox 15"/>
          <p:cNvSpPr txBox="1"/>
          <p:nvPr/>
        </p:nvSpPr>
        <p:spPr>
          <a:xfrm>
            <a:off x="7040879" y="2743200"/>
            <a:ext cx="2194560" cy="365760"/>
          </a:xfrm>
          <a:prstGeom prst="rect">
            <a:avLst/>
          </a:prstGeom>
          <a:noFill/>
        </p:spPr>
        <p:txBody>
          <a:bodyPr wrap="square" lIns="0" rIns="0" tIns="0" bIns="0">
            <a:spAutoFit/>
          </a:bodyPr>
          <a:lstStyle/>
          <a:p>
            <a:pPr algn="ctr">
              <a:defRPr sz="1100" b="1">
                <a:solidFill>
                  <a:srgbClr val="475569"/>
                </a:solidFill>
                <a:latin typeface="Calibri"/>
              </a:defRPr>
            </a:pPr>
            <a:r>
              <a:t>CONNECTIONS</a:t>
            </a:r>
          </a:p>
        </p:txBody>
      </p:sp>
      <p:sp>
        <p:nvSpPr>
          <p:cNvPr id="17" name="Rectangle 16"/>
          <p:cNvSpPr/>
          <p:nvPr/>
        </p:nvSpPr>
        <p:spPr>
          <a:xfrm>
            <a:off x="9509760" y="1783080"/>
            <a:ext cx="2377440" cy="141732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9509760" y="1783080"/>
            <a:ext cx="2377440" cy="73152"/>
          </a:xfrm>
          <a:prstGeom prst="rect">
            <a:avLst/>
          </a:prstGeom>
          <a:solidFill>
            <a:srgbClr val="00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601200" y="2011680"/>
            <a:ext cx="2194560" cy="822960"/>
          </a:xfrm>
          <a:prstGeom prst="rect">
            <a:avLst/>
          </a:prstGeom>
          <a:noFill/>
        </p:spPr>
        <p:txBody>
          <a:bodyPr wrap="square" lIns="0" rIns="0" tIns="0" bIns="0">
            <a:spAutoFit/>
          </a:bodyPr>
          <a:lstStyle/>
          <a:p>
            <a:pPr algn="ctr">
              <a:defRPr sz="3400" b="1">
                <a:solidFill>
                  <a:srgbClr val="0A1F3D"/>
                </a:solidFill>
                <a:latin typeface="Calibri"/>
              </a:defRPr>
            </a:pPr>
            <a:r>
              <a:t>23</a:t>
            </a:r>
          </a:p>
        </p:txBody>
      </p:sp>
      <p:sp>
        <p:nvSpPr>
          <p:cNvPr id="20" name="TextBox 19"/>
          <p:cNvSpPr txBox="1"/>
          <p:nvPr/>
        </p:nvSpPr>
        <p:spPr>
          <a:xfrm>
            <a:off x="9601200" y="2743200"/>
            <a:ext cx="2194560" cy="365760"/>
          </a:xfrm>
          <a:prstGeom prst="rect">
            <a:avLst/>
          </a:prstGeom>
          <a:noFill/>
        </p:spPr>
        <p:txBody>
          <a:bodyPr wrap="square" lIns="0" rIns="0" tIns="0" bIns="0">
            <a:spAutoFit/>
          </a:bodyPr>
          <a:lstStyle/>
          <a:p>
            <a:pPr algn="ctr">
              <a:defRPr sz="1100" b="1">
                <a:solidFill>
                  <a:srgbClr val="475569"/>
                </a:solidFill>
                <a:latin typeface="Calibri"/>
              </a:defRPr>
            </a:pPr>
            <a:r>
              <a:t>SCENARIOS</a:t>
            </a:r>
          </a:p>
        </p:txBody>
      </p:sp>
      <p:sp>
        <p:nvSpPr>
          <p:cNvPr id="21" name="Rectangle 20"/>
          <p:cNvSpPr/>
          <p:nvPr/>
        </p:nvSpPr>
        <p:spPr>
          <a:xfrm>
            <a:off x="6949440" y="3383280"/>
            <a:ext cx="2377440" cy="141732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949440" y="3383280"/>
            <a:ext cx="2377440" cy="73152"/>
          </a:xfrm>
          <a:prstGeom prst="rect">
            <a:avLst/>
          </a:prstGeom>
          <a:solidFill>
            <a:srgbClr val="00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040879" y="3611880"/>
            <a:ext cx="2194560" cy="822960"/>
          </a:xfrm>
          <a:prstGeom prst="rect">
            <a:avLst/>
          </a:prstGeom>
          <a:noFill/>
        </p:spPr>
        <p:txBody>
          <a:bodyPr wrap="square" lIns="0" rIns="0" tIns="0" bIns="0">
            <a:spAutoFit/>
          </a:bodyPr>
          <a:lstStyle/>
          <a:p>
            <a:pPr algn="ctr">
              <a:defRPr sz="3400" b="1">
                <a:solidFill>
                  <a:srgbClr val="0A1F3D"/>
                </a:solidFill>
                <a:latin typeface="Calibri"/>
              </a:defRPr>
            </a:pPr>
            <a:r>
              <a:t>37</a:t>
            </a:r>
          </a:p>
        </p:txBody>
      </p:sp>
      <p:sp>
        <p:nvSpPr>
          <p:cNvPr id="24" name="TextBox 23"/>
          <p:cNvSpPr txBox="1"/>
          <p:nvPr/>
        </p:nvSpPr>
        <p:spPr>
          <a:xfrm>
            <a:off x="7040879" y="4343400"/>
            <a:ext cx="2194560" cy="365760"/>
          </a:xfrm>
          <a:prstGeom prst="rect">
            <a:avLst/>
          </a:prstGeom>
          <a:noFill/>
        </p:spPr>
        <p:txBody>
          <a:bodyPr wrap="square" lIns="0" rIns="0" tIns="0" bIns="0">
            <a:spAutoFit/>
          </a:bodyPr>
          <a:lstStyle/>
          <a:p>
            <a:pPr algn="ctr">
              <a:defRPr sz="1100" b="1">
                <a:solidFill>
                  <a:srgbClr val="475569"/>
                </a:solidFill>
                <a:latin typeface="Calibri"/>
              </a:defRPr>
            </a:pPr>
            <a:r>
              <a:t>FEATURES</a:t>
            </a:r>
          </a:p>
        </p:txBody>
      </p:sp>
      <p:sp>
        <p:nvSpPr>
          <p:cNvPr id="25" name="Rectangle 24"/>
          <p:cNvSpPr/>
          <p:nvPr/>
        </p:nvSpPr>
        <p:spPr>
          <a:xfrm>
            <a:off x="9509760" y="3383280"/>
            <a:ext cx="2377440" cy="141732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509760" y="3383280"/>
            <a:ext cx="2377440" cy="73152"/>
          </a:xfrm>
          <a:prstGeom prst="rect">
            <a:avLst/>
          </a:prstGeom>
          <a:solidFill>
            <a:srgbClr val="00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601200" y="3611880"/>
            <a:ext cx="2194560" cy="822960"/>
          </a:xfrm>
          <a:prstGeom prst="rect">
            <a:avLst/>
          </a:prstGeom>
          <a:noFill/>
        </p:spPr>
        <p:txBody>
          <a:bodyPr wrap="square" lIns="0" rIns="0" tIns="0" bIns="0">
            <a:spAutoFit/>
          </a:bodyPr>
          <a:lstStyle/>
          <a:p>
            <a:pPr algn="ctr">
              <a:defRPr sz="3400" b="1">
                <a:solidFill>
                  <a:srgbClr val="0A1F3D"/>
                </a:solidFill>
                <a:latin typeface="Calibri"/>
              </a:defRPr>
            </a:pPr>
            <a:r>
              <a:t>192 MB</a:t>
            </a:r>
          </a:p>
        </p:txBody>
      </p:sp>
      <p:sp>
        <p:nvSpPr>
          <p:cNvPr id="28" name="TextBox 27"/>
          <p:cNvSpPr txBox="1"/>
          <p:nvPr/>
        </p:nvSpPr>
        <p:spPr>
          <a:xfrm>
            <a:off x="9601200" y="4343400"/>
            <a:ext cx="2194560" cy="365760"/>
          </a:xfrm>
          <a:prstGeom prst="rect">
            <a:avLst/>
          </a:prstGeom>
          <a:noFill/>
        </p:spPr>
        <p:txBody>
          <a:bodyPr wrap="square" lIns="0" rIns="0" tIns="0" bIns="0">
            <a:spAutoFit/>
          </a:bodyPr>
          <a:lstStyle/>
          <a:p>
            <a:pPr algn="ctr">
              <a:defRPr sz="1100" b="1">
                <a:solidFill>
                  <a:srgbClr val="475569"/>
                </a:solidFill>
                <a:latin typeface="Calibri"/>
              </a:defRPr>
            </a:pPr>
            <a:r>
              <a:t>DATA SIZE</a:t>
            </a:r>
          </a:p>
        </p:txBody>
      </p:sp>
      <p:sp>
        <p:nvSpPr>
          <p:cNvPr id="29" name="Rectangle 28"/>
          <p:cNvSpPr/>
          <p:nvPr/>
        </p:nvSpPr>
        <p:spPr>
          <a:xfrm>
            <a:off x="6949440" y="5074920"/>
            <a:ext cx="4937760" cy="502920"/>
          </a:xfrm>
          <a:prstGeom prst="rect">
            <a:avLst/>
          </a:prstGeom>
          <a:solidFill>
            <a:srgbClr val="0A1F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040880" y="5138928"/>
            <a:ext cx="4846320" cy="365760"/>
          </a:xfrm>
          <a:prstGeom prst="rect">
            <a:avLst/>
          </a:prstGeom>
          <a:noFill/>
        </p:spPr>
        <p:txBody>
          <a:bodyPr wrap="square" lIns="0" rIns="0" tIns="0" bIns="0">
            <a:spAutoFit/>
          </a:bodyPr>
          <a:lstStyle/>
          <a:p>
            <a:pPr>
              <a:defRPr sz="1300" b="1">
                <a:solidFill>
                  <a:srgbClr val="00C8C8"/>
                </a:solidFill>
                <a:latin typeface="Calibri"/>
              </a:defRPr>
            </a:pPr>
            <a:r>
              <a:t>stratosphereips.org/datasets-iot23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09728"/>
          </a:xfrm>
          <a:prstGeom prst="rect">
            <a:avLst/>
          </a:prstGeom>
          <a:solidFill>
            <a:srgbClr val="00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446520"/>
            <a:ext cx="12188952" cy="411480"/>
          </a:xfrm>
          <a:prstGeom prst="rect">
            <a:avLst/>
          </a:prstGeom>
          <a:solidFill>
            <a:srgbClr val="0A1F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6519672"/>
            <a:ext cx="8229600" cy="292608"/>
          </a:xfrm>
          <a:prstGeom prst="rect">
            <a:avLst/>
          </a:prstGeom>
          <a:noFill/>
        </p:spPr>
        <p:txBody>
          <a:bodyPr wrap="square" lIns="0" rIns="0" tIns="0" bIns="0">
            <a:spAutoFit/>
          </a:bodyPr>
          <a:lstStyle/>
          <a:p>
            <a:pPr>
              <a:defRPr sz="1000" b="0">
                <a:solidFill>
                  <a:srgbClr val="FFFFFF"/>
                </a:solidFill>
                <a:latin typeface="Calibri"/>
              </a:defRPr>
            </a:pPr>
            <a:r>
              <a:t>IoT Botnet Detection  •  Linux Team Project  •  Alabama A&amp;M University</a:t>
            </a:r>
          </a:p>
        </p:txBody>
      </p:sp>
      <p:sp>
        <p:nvSpPr>
          <p:cNvPr id="6" name="TextBox 5"/>
          <p:cNvSpPr txBox="1"/>
          <p:nvPr/>
        </p:nvSpPr>
        <p:spPr>
          <a:xfrm>
            <a:off x="10972800" y="6519672"/>
            <a:ext cx="1097280" cy="292608"/>
          </a:xfrm>
          <a:prstGeom prst="rect">
            <a:avLst/>
          </a:prstGeom>
          <a:noFill/>
        </p:spPr>
        <p:txBody>
          <a:bodyPr wrap="square" lIns="0" rIns="0" tIns="0" bIns="0">
            <a:spAutoFit/>
          </a:bodyPr>
          <a:lstStyle/>
          <a:p>
            <a:pPr algn="r">
              <a:defRPr sz="1000" b="1">
                <a:solidFill>
                  <a:srgbClr val="00C8C8"/>
                </a:solidFill>
                <a:latin typeface="Calibri"/>
              </a:defRPr>
            </a:pPr>
            <a:r>
              <a:t>04 / 10</a:t>
            </a:r>
          </a:p>
        </p:txBody>
      </p:sp>
      <p:sp>
        <p:nvSpPr>
          <p:cNvPr id="7" name="Rectangle 6"/>
          <p:cNvSpPr/>
          <p:nvPr/>
        </p:nvSpPr>
        <p:spPr>
          <a:xfrm>
            <a:off x="365760" y="502920"/>
            <a:ext cx="109728" cy="868680"/>
          </a:xfrm>
          <a:prstGeom prst="rect">
            <a:avLst/>
          </a:prstGeom>
          <a:solidFill>
            <a:srgbClr val="00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502920"/>
            <a:ext cx="10972800" cy="320040"/>
          </a:xfrm>
          <a:prstGeom prst="rect">
            <a:avLst/>
          </a:prstGeom>
          <a:noFill/>
        </p:spPr>
        <p:txBody>
          <a:bodyPr wrap="square" lIns="0" rIns="0" tIns="0" bIns="0">
            <a:spAutoFit/>
          </a:bodyPr>
          <a:lstStyle/>
          <a:p>
            <a:pPr>
              <a:defRPr sz="1200" b="1">
                <a:solidFill>
                  <a:srgbClr val="00C8C8"/>
                </a:solidFill>
                <a:latin typeface="Calibri"/>
              </a:defRPr>
            </a:pPr>
            <a:r>
              <a:t>03  •  THREAT LANDSCAPE</a:t>
            </a:r>
          </a:p>
        </p:txBody>
      </p:sp>
      <p:sp>
        <p:nvSpPr>
          <p:cNvPr id="9" name="TextBox 8"/>
          <p:cNvSpPr txBox="1"/>
          <p:nvPr/>
        </p:nvSpPr>
        <p:spPr>
          <a:xfrm>
            <a:off x="640080" y="777240"/>
            <a:ext cx="11430000" cy="685800"/>
          </a:xfrm>
          <a:prstGeom prst="rect">
            <a:avLst/>
          </a:prstGeom>
          <a:noFill/>
        </p:spPr>
        <p:txBody>
          <a:bodyPr wrap="square" lIns="0" rIns="0" tIns="0" bIns="0">
            <a:spAutoFit/>
          </a:bodyPr>
          <a:lstStyle/>
          <a:p>
            <a:pPr>
              <a:defRPr sz="3000" b="1">
                <a:solidFill>
                  <a:srgbClr val="0A1F3D"/>
                </a:solidFill>
                <a:latin typeface="Calibri"/>
              </a:defRPr>
            </a:pPr>
            <a:r>
              <a:t>What we're detecting</a:t>
            </a:r>
          </a:p>
        </p:txBody>
      </p:sp>
      <p:sp>
        <p:nvSpPr>
          <p:cNvPr id="10" name="Rectangle 9"/>
          <p:cNvSpPr/>
          <p:nvPr/>
        </p:nvSpPr>
        <p:spPr>
          <a:xfrm>
            <a:off x="365760" y="1417320"/>
            <a:ext cx="11430000" cy="2286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1783080"/>
            <a:ext cx="11247120"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1783080"/>
            <a:ext cx="11247120" cy="502920"/>
          </a:xfrm>
          <a:prstGeom prst="rect">
            <a:avLst/>
          </a:prstGeom>
          <a:solidFill>
            <a:srgbClr val="0A1F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1847088"/>
            <a:ext cx="2286000" cy="365760"/>
          </a:xfrm>
          <a:prstGeom prst="rect">
            <a:avLst/>
          </a:prstGeom>
          <a:noFill/>
        </p:spPr>
        <p:txBody>
          <a:bodyPr wrap="square" lIns="0" rIns="0" tIns="0" bIns="0">
            <a:spAutoFit/>
          </a:bodyPr>
          <a:lstStyle/>
          <a:p>
            <a:pPr>
              <a:defRPr sz="1200" b="1">
                <a:solidFill>
                  <a:srgbClr val="00C8C8"/>
                </a:solidFill>
                <a:latin typeface="Calibri"/>
              </a:defRPr>
            </a:pPr>
            <a:r>
              <a:t>CATEGORY</a:t>
            </a:r>
          </a:p>
        </p:txBody>
      </p:sp>
      <p:sp>
        <p:nvSpPr>
          <p:cNvPr id="14" name="TextBox 13"/>
          <p:cNvSpPr txBox="1"/>
          <p:nvPr/>
        </p:nvSpPr>
        <p:spPr>
          <a:xfrm>
            <a:off x="3657600" y="1847088"/>
            <a:ext cx="2743200" cy="365760"/>
          </a:xfrm>
          <a:prstGeom prst="rect">
            <a:avLst/>
          </a:prstGeom>
          <a:noFill/>
        </p:spPr>
        <p:txBody>
          <a:bodyPr wrap="square" lIns="0" rIns="0" tIns="0" bIns="0">
            <a:spAutoFit/>
          </a:bodyPr>
          <a:lstStyle/>
          <a:p>
            <a:pPr>
              <a:defRPr sz="1200" b="1">
                <a:solidFill>
                  <a:srgbClr val="00C8C8"/>
                </a:solidFill>
                <a:latin typeface="Calibri"/>
              </a:defRPr>
            </a:pPr>
            <a:r>
              <a:t>CONNECTIONS</a:t>
            </a:r>
          </a:p>
        </p:txBody>
      </p:sp>
      <p:sp>
        <p:nvSpPr>
          <p:cNvPr id="15" name="TextBox 14"/>
          <p:cNvSpPr txBox="1"/>
          <p:nvPr/>
        </p:nvSpPr>
        <p:spPr>
          <a:xfrm>
            <a:off x="6858000" y="1847088"/>
            <a:ext cx="4572000" cy="365760"/>
          </a:xfrm>
          <a:prstGeom prst="rect">
            <a:avLst/>
          </a:prstGeom>
          <a:noFill/>
        </p:spPr>
        <p:txBody>
          <a:bodyPr wrap="square" lIns="0" rIns="0" tIns="0" bIns="0">
            <a:spAutoFit/>
          </a:bodyPr>
          <a:lstStyle/>
          <a:p>
            <a:pPr>
              <a:defRPr sz="1200" b="1">
                <a:solidFill>
                  <a:srgbClr val="00C8C8"/>
                </a:solidFill>
                <a:latin typeface="Calibri"/>
              </a:defRPr>
            </a:pPr>
            <a:r>
              <a:t>DESCRIPTION</a:t>
            </a:r>
          </a:p>
        </p:txBody>
      </p:sp>
      <p:sp>
        <p:nvSpPr>
          <p:cNvPr id="16" name="Rectangle 15"/>
          <p:cNvSpPr/>
          <p:nvPr/>
        </p:nvSpPr>
        <p:spPr>
          <a:xfrm>
            <a:off x="457200" y="2331720"/>
            <a:ext cx="11247120" cy="59436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2450591"/>
            <a:ext cx="164592" cy="365760"/>
          </a:xfrm>
          <a:prstGeom prst="rect">
            <a:avLst/>
          </a:prstGeom>
          <a:solidFill>
            <a:srgbClr val="00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51560" y="2468879"/>
            <a:ext cx="2286000" cy="365760"/>
          </a:xfrm>
          <a:prstGeom prst="rect">
            <a:avLst/>
          </a:prstGeom>
          <a:noFill/>
        </p:spPr>
        <p:txBody>
          <a:bodyPr wrap="square" lIns="0" rIns="0" tIns="0" bIns="0">
            <a:spAutoFit/>
          </a:bodyPr>
          <a:lstStyle/>
          <a:p>
            <a:pPr>
              <a:defRPr sz="1400" b="1">
                <a:solidFill>
                  <a:srgbClr val="0A1F3D"/>
                </a:solidFill>
                <a:latin typeface="Calibri"/>
              </a:defRPr>
            </a:pPr>
            <a:r>
              <a:t>Benign</a:t>
            </a:r>
          </a:p>
        </p:txBody>
      </p:sp>
      <p:sp>
        <p:nvSpPr>
          <p:cNvPr id="19" name="TextBox 18"/>
          <p:cNvSpPr txBox="1"/>
          <p:nvPr/>
        </p:nvSpPr>
        <p:spPr>
          <a:xfrm>
            <a:off x="3657600" y="2468879"/>
            <a:ext cx="2743200" cy="365760"/>
          </a:xfrm>
          <a:prstGeom prst="rect">
            <a:avLst/>
          </a:prstGeom>
          <a:noFill/>
        </p:spPr>
        <p:txBody>
          <a:bodyPr wrap="square" lIns="0" rIns="0" tIns="0" bIns="0">
            <a:spAutoFit/>
          </a:bodyPr>
          <a:lstStyle/>
          <a:p>
            <a:pPr>
              <a:defRPr sz="1400" b="1">
                <a:solidFill>
                  <a:srgbClr val="475569"/>
                </a:solidFill>
                <a:latin typeface="Calibri"/>
              </a:defRPr>
            </a:pPr>
            <a:r>
              <a:t>120,499</a:t>
            </a:r>
          </a:p>
        </p:txBody>
      </p:sp>
      <p:sp>
        <p:nvSpPr>
          <p:cNvPr id="20" name="TextBox 19"/>
          <p:cNvSpPr txBox="1"/>
          <p:nvPr/>
        </p:nvSpPr>
        <p:spPr>
          <a:xfrm>
            <a:off x="6858000" y="2468879"/>
            <a:ext cx="4754880" cy="365760"/>
          </a:xfrm>
          <a:prstGeom prst="rect">
            <a:avLst/>
          </a:prstGeom>
          <a:noFill/>
        </p:spPr>
        <p:txBody>
          <a:bodyPr wrap="square" lIns="0" rIns="0" tIns="0" bIns="0">
            <a:spAutoFit/>
          </a:bodyPr>
          <a:lstStyle/>
          <a:p>
            <a:pPr>
              <a:defRPr sz="1300" b="0">
                <a:solidFill>
                  <a:srgbClr val="475569"/>
                </a:solidFill>
                <a:latin typeface="Calibri"/>
              </a:defRPr>
            </a:pPr>
            <a:r>
              <a:t>Normal IoT device traffic</a:t>
            </a:r>
          </a:p>
        </p:txBody>
      </p:sp>
      <p:sp>
        <p:nvSpPr>
          <p:cNvPr id="21" name="Rectangle 20"/>
          <p:cNvSpPr/>
          <p:nvPr/>
        </p:nvSpPr>
        <p:spPr>
          <a:xfrm>
            <a:off x="777240" y="3044951"/>
            <a:ext cx="164592" cy="365760"/>
          </a:xfrm>
          <a:prstGeom prst="rect">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51560" y="3063239"/>
            <a:ext cx="2286000" cy="365760"/>
          </a:xfrm>
          <a:prstGeom prst="rect">
            <a:avLst/>
          </a:prstGeom>
          <a:noFill/>
        </p:spPr>
        <p:txBody>
          <a:bodyPr wrap="square" lIns="0" rIns="0" tIns="0" bIns="0">
            <a:spAutoFit/>
          </a:bodyPr>
          <a:lstStyle/>
          <a:p>
            <a:pPr>
              <a:defRPr sz="1400" b="1">
                <a:solidFill>
                  <a:srgbClr val="0A1F3D"/>
                </a:solidFill>
                <a:latin typeface="Calibri"/>
              </a:defRPr>
            </a:pPr>
            <a:r>
              <a:t>DDoS</a:t>
            </a:r>
          </a:p>
        </p:txBody>
      </p:sp>
      <p:sp>
        <p:nvSpPr>
          <p:cNvPr id="23" name="TextBox 22"/>
          <p:cNvSpPr txBox="1"/>
          <p:nvPr/>
        </p:nvSpPr>
        <p:spPr>
          <a:xfrm>
            <a:off x="3657600" y="3063239"/>
            <a:ext cx="2743200" cy="365760"/>
          </a:xfrm>
          <a:prstGeom prst="rect">
            <a:avLst/>
          </a:prstGeom>
          <a:noFill/>
        </p:spPr>
        <p:txBody>
          <a:bodyPr wrap="square" lIns="0" rIns="0" tIns="0" bIns="0">
            <a:spAutoFit/>
          </a:bodyPr>
          <a:lstStyle/>
          <a:p>
            <a:pPr>
              <a:defRPr sz="1400" b="1">
                <a:solidFill>
                  <a:srgbClr val="475569"/>
                </a:solidFill>
                <a:latin typeface="Calibri"/>
              </a:defRPr>
            </a:pPr>
            <a:r>
              <a:t>1,643,228</a:t>
            </a:r>
          </a:p>
        </p:txBody>
      </p:sp>
      <p:sp>
        <p:nvSpPr>
          <p:cNvPr id="24" name="TextBox 23"/>
          <p:cNvSpPr txBox="1"/>
          <p:nvPr/>
        </p:nvSpPr>
        <p:spPr>
          <a:xfrm>
            <a:off x="6858000" y="3063239"/>
            <a:ext cx="4754880" cy="365760"/>
          </a:xfrm>
          <a:prstGeom prst="rect">
            <a:avLst/>
          </a:prstGeom>
          <a:noFill/>
        </p:spPr>
        <p:txBody>
          <a:bodyPr wrap="square" lIns="0" rIns="0" tIns="0" bIns="0">
            <a:spAutoFit/>
          </a:bodyPr>
          <a:lstStyle/>
          <a:p>
            <a:pPr>
              <a:defRPr sz="1300" b="0">
                <a:solidFill>
                  <a:srgbClr val="475569"/>
                </a:solidFill>
                <a:latin typeface="Calibri"/>
              </a:defRPr>
            </a:pPr>
            <a:r>
              <a:t>Distributed denial-of-service flood attacks</a:t>
            </a:r>
          </a:p>
        </p:txBody>
      </p:sp>
      <p:sp>
        <p:nvSpPr>
          <p:cNvPr id="25" name="Rectangle 24"/>
          <p:cNvSpPr/>
          <p:nvPr/>
        </p:nvSpPr>
        <p:spPr>
          <a:xfrm>
            <a:off x="457200" y="3520439"/>
            <a:ext cx="11247120" cy="59436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77240" y="3639311"/>
            <a:ext cx="164592" cy="365760"/>
          </a:xfrm>
          <a:prstGeom prst="rect">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51560" y="3657599"/>
            <a:ext cx="2286000" cy="365760"/>
          </a:xfrm>
          <a:prstGeom prst="rect">
            <a:avLst/>
          </a:prstGeom>
          <a:noFill/>
        </p:spPr>
        <p:txBody>
          <a:bodyPr wrap="square" lIns="0" rIns="0" tIns="0" bIns="0">
            <a:spAutoFit/>
          </a:bodyPr>
          <a:lstStyle/>
          <a:p>
            <a:pPr>
              <a:defRPr sz="1400" b="1">
                <a:solidFill>
                  <a:srgbClr val="0A1F3D"/>
                </a:solidFill>
                <a:latin typeface="Calibri"/>
              </a:defRPr>
            </a:pPr>
            <a:r>
              <a:t>PortScan</a:t>
            </a:r>
          </a:p>
        </p:txBody>
      </p:sp>
      <p:sp>
        <p:nvSpPr>
          <p:cNvPr id="28" name="TextBox 27"/>
          <p:cNvSpPr txBox="1"/>
          <p:nvPr/>
        </p:nvSpPr>
        <p:spPr>
          <a:xfrm>
            <a:off x="3657600" y="3657599"/>
            <a:ext cx="2743200" cy="365760"/>
          </a:xfrm>
          <a:prstGeom prst="rect">
            <a:avLst/>
          </a:prstGeom>
          <a:noFill/>
        </p:spPr>
        <p:txBody>
          <a:bodyPr wrap="square" lIns="0" rIns="0" tIns="0" bIns="0">
            <a:spAutoFit/>
          </a:bodyPr>
          <a:lstStyle/>
          <a:p>
            <a:pPr>
              <a:defRPr sz="1400" b="1">
                <a:solidFill>
                  <a:srgbClr val="475569"/>
                </a:solidFill>
                <a:latin typeface="Calibri"/>
              </a:defRPr>
            </a:pPr>
            <a:r>
              <a:t>74,139</a:t>
            </a:r>
          </a:p>
        </p:txBody>
      </p:sp>
      <p:sp>
        <p:nvSpPr>
          <p:cNvPr id="29" name="TextBox 28"/>
          <p:cNvSpPr txBox="1"/>
          <p:nvPr/>
        </p:nvSpPr>
        <p:spPr>
          <a:xfrm>
            <a:off x="6858000" y="3657599"/>
            <a:ext cx="4754880" cy="365760"/>
          </a:xfrm>
          <a:prstGeom prst="rect">
            <a:avLst/>
          </a:prstGeom>
          <a:noFill/>
        </p:spPr>
        <p:txBody>
          <a:bodyPr wrap="square" lIns="0" rIns="0" tIns="0" bIns="0">
            <a:spAutoFit/>
          </a:bodyPr>
          <a:lstStyle/>
          <a:p>
            <a:pPr>
              <a:defRPr sz="1300" b="0">
                <a:solidFill>
                  <a:srgbClr val="475569"/>
                </a:solidFill>
                <a:latin typeface="Calibri"/>
              </a:defRPr>
            </a:pPr>
            <a:r>
              <a:t>Scanning for open ports / vulnerable services</a:t>
            </a:r>
          </a:p>
        </p:txBody>
      </p:sp>
      <p:sp>
        <p:nvSpPr>
          <p:cNvPr id="30" name="Rectangle 29"/>
          <p:cNvSpPr/>
          <p:nvPr/>
        </p:nvSpPr>
        <p:spPr>
          <a:xfrm>
            <a:off x="777240" y="4233672"/>
            <a:ext cx="164592" cy="365760"/>
          </a:xfrm>
          <a:prstGeom prst="rect">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51560" y="4251960"/>
            <a:ext cx="2286000" cy="365760"/>
          </a:xfrm>
          <a:prstGeom prst="rect">
            <a:avLst/>
          </a:prstGeom>
          <a:noFill/>
        </p:spPr>
        <p:txBody>
          <a:bodyPr wrap="square" lIns="0" rIns="0" tIns="0" bIns="0">
            <a:spAutoFit/>
          </a:bodyPr>
          <a:lstStyle/>
          <a:p>
            <a:pPr>
              <a:defRPr sz="1400" b="1">
                <a:solidFill>
                  <a:srgbClr val="0A1F3D"/>
                </a:solidFill>
                <a:latin typeface="Calibri"/>
              </a:defRPr>
            </a:pPr>
            <a:r>
              <a:t>C&amp;C</a:t>
            </a:r>
          </a:p>
        </p:txBody>
      </p:sp>
      <p:sp>
        <p:nvSpPr>
          <p:cNvPr id="32" name="TextBox 31"/>
          <p:cNvSpPr txBox="1"/>
          <p:nvPr/>
        </p:nvSpPr>
        <p:spPr>
          <a:xfrm>
            <a:off x="3657600" y="4251960"/>
            <a:ext cx="2743200" cy="365760"/>
          </a:xfrm>
          <a:prstGeom prst="rect">
            <a:avLst/>
          </a:prstGeom>
          <a:noFill/>
        </p:spPr>
        <p:txBody>
          <a:bodyPr wrap="square" lIns="0" rIns="0" tIns="0" bIns="0">
            <a:spAutoFit/>
          </a:bodyPr>
          <a:lstStyle/>
          <a:p>
            <a:pPr>
              <a:defRPr sz="1400" b="1">
                <a:solidFill>
                  <a:srgbClr val="475569"/>
                </a:solidFill>
                <a:latin typeface="Calibri"/>
              </a:defRPr>
            </a:pPr>
            <a:r>
              <a:t>22,502</a:t>
            </a:r>
          </a:p>
        </p:txBody>
      </p:sp>
      <p:sp>
        <p:nvSpPr>
          <p:cNvPr id="33" name="TextBox 32"/>
          <p:cNvSpPr txBox="1"/>
          <p:nvPr/>
        </p:nvSpPr>
        <p:spPr>
          <a:xfrm>
            <a:off x="6858000" y="4251960"/>
            <a:ext cx="4754880" cy="365760"/>
          </a:xfrm>
          <a:prstGeom prst="rect">
            <a:avLst/>
          </a:prstGeom>
          <a:noFill/>
        </p:spPr>
        <p:txBody>
          <a:bodyPr wrap="square" lIns="0" rIns="0" tIns="0" bIns="0">
            <a:spAutoFit/>
          </a:bodyPr>
          <a:lstStyle/>
          <a:p>
            <a:pPr>
              <a:defRPr sz="1300" b="0">
                <a:solidFill>
                  <a:srgbClr val="475569"/>
                </a:solidFill>
                <a:latin typeface="Calibri"/>
              </a:defRPr>
            </a:pPr>
            <a:r>
              <a:t>Command &amp; Control - infected device 'phones home'</a:t>
            </a:r>
          </a:p>
        </p:txBody>
      </p:sp>
      <p:sp>
        <p:nvSpPr>
          <p:cNvPr id="34" name="Rectangle 33"/>
          <p:cNvSpPr/>
          <p:nvPr/>
        </p:nvSpPr>
        <p:spPr>
          <a:xfrm>
            <a:off x="457200" y="4709160"/>
            <a:ext cx="11247120" cy="59436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777240" y="4828032"/>
            <a:ext cx="164592" cy="365760"/>
          </a:xfrm>
          <a:prstGeom prst="rect">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51560" y="4846320"/>
            <a:ext cx="2286000" cy="365760"/>
          </a:xfrm>
          <a:prstGeom prst="rect">
            <a:avLst/>
          </a:prstGeom>
          <a:noFill/>
        </p:spPr>
        <p:txBody>
          <a:bodyPr wrap="square" lIns="0" rIns="0" tIns="0" bIns="0">
            <a:spAutoFit/>
          </a:bodyPr>
          <a:lstStyle/>
          <a:p>
            <a:pPr>
              <a:defRPr sz="1400" b="1">
                <a:solidFill>
                  <a:srgbClr val="0A1F3D"/>
                </a:solidFill>
                <a:latin typeface="Calibri"/>
              </a:defRPr>
            </a:pPr>
            <a:r>
              <a:t>Botnet</a:t>
            </a:r>
          </a:p>
        </p:txBody>
      </p:sp>
      <p:sp>
        <p:nvSpPr>
          <p:cNvPr id="37" name="TextBox 36"/>
          <p:cNvSpPr txBox="1"/>
          <p:nvPr/>
        </p:nvSpPr>
        <p:spPr>
          <a:xfrm>
            <a:off x="3657600" y="4846320"/>
            <a:ext cx="2743200" cy="365760"/>
          </a:xfrm>
          <a:prstGeom prst="rect">
            <a:avLst/>
          </a:prstGeom>
          <a:noFill/>
        </p:spPr>
        <p:txBody>
          <a:bodyPr wrap="square" lIns="0" rIns="0" tIns="0" bIns="0">
            <a:spAutoFit/>
          </a:bodyPr>
          <a:lstStyle/>
          <a:p>
            <a:pPr>
              <a:defRPr sz="1400" b="1">
                <a:solidFill>
                  <a:srgbClr val="475569"/>
                </a:solidFill>
                <a:latin typeface="Calibri"/>
              </a:defRPr>
            </a:pPr>
            <a:r>
              <a:t>15,252</a:t>
            </a:r>
          </a:p>
        </p:txBody>
      </p:sp>
      <p:sp>
        <p:nvSpPr>
          <p:cNvPr id="38" name="TextBox 37"/>
          <p:cNvSpPr txBox="1"/>
          <p:nvPr/>
        </p:nvSpPr>
        <p:spPr>
          <a:xfrm>
            <a:off x="6858000" y="4846320"/>
            <a:ext cx="4754880" cy="365760"/>
          </a:xfrm>
          <a:prstGeom prst="rect">
            <a:avLst/>
          </a:prstGeom>
          <a:noFill/>
        </p:spPr>
        <p:txBody>
          <a:bodyPr wrap="square" lIns="0" rIns="0" tIns="0" bIns="0">
            <a:spAutoFit/>
          </a:bodyPr>
          <a:lstStyle/>
          <a:p>
            <a:pPr>
              <a:defRPr sz="1300" b="0">
                <a:solidFill>
                  <a:srgbClr val="475569"/>
                </a:solidFill>
                <a:latin typeface="Calibri"/>
              </a:defRPr>
            </a:pPr>
            <a:r>
              <a:t>Mirai / Okiru botnet propagation</a:t>
            </a:r>
          </a:p>
        </p:txBody>
      </p:sp>
      <p:sp>
        <p:nvSpPr>
          <p:cNvPr id="39" name="Rectangle 38"/>
          <p:cNvSpPr/>
          <p:nvPr/>
        </p:nvSpPr>
        <p:spPr>
          <a:xfrm>
            <a:off x="777240" y="5422392"/>
            <a:ext cx="164592" cy="365760"/>
          </a:xfrm>
          <a:prstGeom prst="rect">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51560" y="5440680"/>
            <a:ext cx="2286000" cy="365760"/>
          </a:xfrm>
          <a:prstGeom prst="rect">
            <a:avLst/>
          </a:prstGeom>
          <a:noFill/>
        </p:spPr>
        <p:txBody>
          <a:bodyPr wrap="square" lIns="0" rIns="0" tIns="0" bIns="0">
            <a:spAutoFit/>
          </a:bodyPr>
          <a:lstStyle/>
          <a:p>
            <a:pPr>
              <a:defRPr sz="1400" b="1">
                <a:solidFill>
                  <a:srgbClr val="0A1F3D"/>
                </a:solidFill>
                <a:latin typeface="Calibri"/>
              </a:defRPr>
            </a:pPr>
            <a:r>
              <a:t>Attack</a:t>
            </a:r>
          </a:p>
        </p:txBody>
      </p:sp>
      <p:sp>
        <p:nvSpPr>
          <p:cNvPr id="41" name="TextBox 40"/>
          <p:cNvSpPr txBox="1"/>
          <p:nvPr/>
        </p:nvSpPr>
        <p:spPr>
          <a:xfrm>
            <a:off x="3657600" y="5440680"/>
            <a:ext cx="2743200" cy="365760"/>
          </a:xfrm>
          <a:prstGeom prst="rect">
            <a:avLst/>
          </a:prstGeom>
          <a:noFill/>
        </p:spPr>
        <p:txBody>
          <a:bodyPr wrap="square" lIns="0" rIns="0" tIns="0" bIns="0">
            <a:spAutoFit/>
          </a:bodyPr>
          <a:lstStyle/>
          <a:p>
            <a:pPr>
              <a:defRPr sz="1400" b="1">
                <a:solidFill>
                  <a:srgbClr val="475569"/>
                </a:solidFill>
                <a:latin typeface="Calibri"/>
              </a:defRPr>
            </a:pPr>
            <a:r>
              <a:t>9,366</a:t>
            </a:r>
          </a:p>
        </p:txBody>
      </p:sp>
      <p:sp>
        <p:nvSpPr>
          <p:cNvPr id="42" name="TextBox 41"/>
          <p:cNvSpPr txBox="1"/>
          <p:nvPr/>
        </p:nvSpPr>
        <p:spPr>
          <a:xfrm>
            <a:off x="6858000" y="5440680"/>
            <a:ext cx="4754880" cy="365760"/>
          </a:xfrm>
          <a:prstGeom prst="rect">
            <a:avLst/>
          </a:prstGeom>
          <a:noFill/>
        </p:spPr>
        <p:txBody>
          <a:bodyPr wrap="square" lIns="0" rIns="0" tIns="0" bIns="0">
            <a:spAutoFit/>
          </a:bodyPr>
          <a:lstStyle/>
          <a:p>
            <a:pPr>
              <a:defRPr sz="1300" b="0">
                <a:solidFill>
                  <a:srgbClr val="475569"/>
                </a:solidFill>
                <a:latin typeface="Calibri"/>
              </a:defRPr>
            </a:pPr>
            <a:r>
              <a:t>Other generic attack categories</a:t>
            </a:r>
          </a:p>
        </p:txBody>
      </p:sp>
      <p:sp>
        <p:nvSpPr>
          <p:cNvPr id="43" name="TextBox 42"/>
          <p:cNvSpPr txBox="1"/>
          <p:nvPr/>
        </p:nvSpPr>
        <p:spPr>
          <a:xfrm>
            <a:off x="457200" y="6126480"/>
            <a:ext cx="11247120" cy="320040"/>
          </a:xfrm>
          <a:prstGeom prst="rect">
            <a:avLst/>
          </a:prstGeom>
          <a:noFill/>
        </p:spPr>
        <p:txBody>
          <a:bodyPr wrap="square" lIns="0" rIns="0" tIns="0" bIns="0">
            <a:spAutoFit/>
          </a:bodyPr>
          <a:lstStyle/>
          <a:p>
            <a:pPr algn="ctr">
              <a:defRPr sz="1200" b="1">
                <a:solidFill>
                  <a:srgbClr val="E74C3C"/>
                </a:solidFill>
                <a:latin typeface="Calibri"/>
              </a:defRPr>
            </a:pPr>
            <a:r>
              <a:t>⚠  HEAVILY IMBALANCED  —  93.6% of traffic is malicious (mostly DDoS)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09728"/>
          </a:xfrm>
          <a:prstGeom prst="rect">
            <a:avLst/>
          </a:prstGeom>
          <a:solidFill>
            <a:srgbClr val="00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446520"/>
            <a:ext cx="12188952" cy="411480"/>
          </a:xfrm>
          <a:prstGeom prst="rect">
            <a:avLst/>
          </a:prstGeom>
          <a:solidFill>
            <a:srgbClr val="0A1F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6519672"/>
            <a:ext cx="8229600" cy="292608"/>
          </a:xfrm>
          <a:prstGeom prst="rect">
            <a:avLst/>
          </a:prstGeom>
          <a:noFill/>
        </p:spPr>
        <p:txBody>
          <a:bodyPr wrap="square" lIns="0" rIns="0" tIns="0" bIns="0">
            <a:spAutoFit/>
          </a:bodyPr>
          <a:lstStyle/>
          <a:p>
            <a:pPr>
              <a:defRPr sz="1000" b="0">
                <a:solidFill>
                  <a:srgbClr val="FFFFFF"/>
                </a:solidFill>
                <a:latin typeface="Calibri"/>
              </a:defRPr>
            </a:pPr>
            <a:r>
              <a:t>IoT Botnet Detection  •  Linux Team Project  •  Alabama A&amp;M University</a:t>
            </a:r>
          </a:p>
        </p:txBody>
      </p:sp>
      <p:sp>
        <p:nvSpPr>
          <p:cNvPr id="6" name="TextBox 5"/>
          <p:cNvSpPr txBox="1"/>
          <p:nvPr/>
        </p:nvSpPr>
        <p:spPr>
          <a:xfrm>
            <a:off x="10972800" y="6519672"/>
            <a:ext cx="1097280" cy="292608"/>
          </a:xfrm>
          <a:prstGeom prst="rect">
            <a:avLst/>
          </a:prstGeom>
          <a:noFill/>
        </p:spPr>
        <p:txBody>
          <a:bodyPr wrap="square" lIns="0" rIns="0" tIns="0" bIns="0">
            <a:spAutoFit/>
          </a:bodyPr>
          <a:lstStyle/>
          <a:p>
            <a:pPr algn="r">
              <a:defRPr sz="1000" b="1">
                <a:solidFill>
                  <a:srgbClr val="00C8C8"/>
                </a:solidFill>
                <a:latin typeface="Calibri"/>
              </a:defRPr>
            </a:pPr>
            <a:r>
              <a:t>05 / 10</a:t>
            </a:r>
          </a:p>
        </p:txBody>
      </p:sp>
      <p:sp>
        <p:nvSpPr>
          <p:cNvPr id="7" name="Rectangle 6"/>
          <p:cNvSpPr/>
          <p:nvPr/>
        </p:nvSpPr>
        <p:spPr>
          <a:xfrm>
            <a:off x="365760" y="502920"/>
            <a:ext cx="109728" cy="868680"/>
          </a:xfrm>
          <a:prstGeom prst="rect">
            <a:avLst/>
          </a:prstGeom>
          <a:solidFill>
            <a:srgbClr val="00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502920"/>
            <a:ext cx="10972800" cy="320040"/>
          </a:xfrm>
          <a:prstGeom prst="rect">
            <a:avLst/>
          </a:prstGeom>
          <a:noFill/>
        </p:spPr>
        <p:txBody>
          <a:bodyPr wrap="square" lIns="0" rIns="0" tIns="0" bIns="0">
            <a:spAutoFit/>
          </a:bodyPr>
          <a:lstStyle/>
          <a:p>
            <a:pPr>
              <a:defRPr sz="1200" b="1">
                <a:solidFill>
                  <a:srgbClr val="00C8C8"/>
                </a:solidFill>
                <a:latin typeface="Calibri"/>
              </a:defRPr>
            </a:pPr>
            <a:r>
              <a:t>04  •  METHODOLOGY</a:t>
            </a:r>
          </a:p>
        </p:txBody>
      </p:sp>
      <p:sp>
        <p:nvSpPr>
          <p:cNvPr id="9" name="TextBox 8"/>
          <p:cNvSpPr txBox="1"/>
          <p:nvPr/>
        </p:nvSpPr>
        <p:spPr>
          <a:xfrm>
            <a:off x="640080" y="777240"/>
            <a:ext cx="11430000" cy="685800"/>
          </a:xfrm>
          <a:prstGeom prst="rect">
            <a:avLst/>
          </a:prstGeom>
          <a:noFill/>
        </p:spPr>
        <p:txBody>
          <a:bodyPr wrap="square" lIns="0" rIns="0" tIns="0" bIns="0">
            <a:spAutoFit/>
          </a:bodyPr>
          <a:lstStyle/>
          <a:p>
            <a:pPr>
              <a:defRPr sz="3000" b="1">
                <a:solidFill>
                  <a:srgbClr val="0A1F3D"/>
                </a:solidFill>
                <a:latin typeface="Calibri"/>
              </a:defRPr>
            </a:pPr>
            <a:r>
              <a:t>The data pipeline</a:t>
            </a:r>
          </a:p>
        </p:txBody>
      </p:sp>
      <p:sp>
        <p:nvSpPr>
          <p:cNvPr id="10" name="Rectangle 9"/>
          <p:cNvSpPr/>
          <p:nvPr/>
        </p:nvSpPr>
        <p:spPr>
          <a:xfrm>
            <a:off x="365760" y="1417320"/>
            <a:ext cx="11430000" cy="2286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1874519"/>
            <a:ext cx="1600200" cy="274320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1874519"/>
            <a:ext cx="1600200" cy="502920"/>
          </a:xfrm>
          <a:prstGeom prst="rect">
            <a:avLst/>
          </a:prstGeom>
          <a:solidFill>
            <a:srgbClr val="0A1F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2920" y="1938527"/>
            <a:ext cx="1417320" cy="411480"/>
          </a:xfrm>
          <a:prstGeom prst="rect">
            <a:avLst/>
          </a:prstGeom>
          <a:noFill/>
        </p:spPr>
        <p:txBody>
          <a:bodyPr wrap="square" lIns="0" rIns="0" tIns="0" bIns="0">
            <a:spAutoFit/>
          </a:bodyPr>
          <a:lstStyle/>
          <a:p>
            <a:pPr algn="ctr">
              <a:defRPr sz="1800" b="1">
                <a:solidFill>
                  <a:srgbClr val="00C8C8"/>
                </a:solidFill>
                <a:latin typeface="Calibri"/>
              </a:defRPr>
            </a:pPr>
            <a:r>
              <a:t>01</a:t>
            </a:r>
          </a:p>
        </p:txBody>
      </p:sp>
      <p:sp>
        <p:nvSpPr>
          <p:cNvPr id="14" name="TextBox 13"/>
          <p:cNvSpPr txBox="1"/>
          <p:nvPr/>
        </p:nvSpPr>
        <p:spPr>
          <a:xfrm>
            <a:off x="502920" y="2514600"/>
            <a:ext cx="1417320" cy="411480"/>
          </a:xfrm>
          <a:prstGeom prst="rect">
            <a:avLst/>
          </a:prstGeom>
          <a:noFill/>
        </p:spPr>
        <p:txBody>
          <a:bodyPr wrap="square" lIns="0" rIns="0" tIns="0" bIns="0">
            <a:spAutoFit/>
          </a:bodyPr>
          <a:lstStyle/>
          <a:p>
            <a:pPr algn="ctr">
              <a:defRPr sz="1500" b="1">
                <a:solidFill>
                  <a:srgbClr val="0A1F3D"/>
                </a:solidFill>
                <a:latin typeface="Calibri"/>
              </a:defRPr>
            </a:pPr>
            <a:r>
              <a:t>Load</a:t>
            </a:r>
          </a:p>
        </p:txBody>
      </p:sp>
      <p:sp>
        <p:nvSpPr>
          <p:cNvPr id="15" name="TextBox 14"/>
          <p:cNvSpPr txBox="1"/>
          <p:nvPr/>
        </p:nvSpPr>
        <p:spPr>
          <a:xfrm>
            <a:off x="502920" y="2971800"/>
            <a:ext cx="1417320" cy="1554480"/>
          </a:xfrm>
          <a:prstGeom prst="rect">
            <a:avLst/>
          </a:prstGeom>
          <a:noFill/>
        </p:spPr>
        <p:txBody>
          <a:bodyPr wrap="square" lIns="0" rIns="0" tIns="0" bIns="0">
            <a:spAutoFit/>
          </a:bodyPr>
          <a:lstStyle/>
          <a:p>
            <a:pPr algn="ctr">
              <a:defRPr sz="1000" b="0">
                <a:solidFill>
                  <a:srgbClr val="475569"/>
                </a:solidFill>
                <a:latin typeface="Calibri"/>
              </a:defRPr>
            </a:pPr>
            <a:r>
              <a:t>Read 23 CSV files, combine into 1.88M-row dataset</a:t>
            </a:r>
          </a:p>
        </p:txBody>
      </p:sp>
      <p:sp>
        <p:nvSpPr>
          <p:cNvPr id="16" name="Rectangle 15"/>
          <p:cNvSpPr/>
          <p:nvPr/>
        </p:nvSpPr>
        <p:spPr>
          <a:xfrm>
            <a:off x="2057400" y="1874519"/>
            <a:ext cx="1600200" cy="274320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057400" y="1874519"/>
            <a:ext cx="1600200" cy="502920"/>
          </a:xfrm>
          <a:prstGeom prst="rect">
            <a:avLst/>
          </a:prstGeom>
          <a:solidFill>
            <a:srgbClr val="0A1F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148840" y="1938527"/>
            <a:ext cx="1417320" cy="411480"/>
          </a:xfrm>
          <a:prstGeom prst="rect">
            <a:avLst/>
          </a:prstGeom>
          <a:noFill/>
        </p:spPr>
        <p:txBody>
          <a:bodyPr wrap="square" lIns="0" rIns="0" tIns="0" bIns="0">
            <a:spAutoFit/>
          </a:bodyPr>
          <a:lstStyle/>
          <a:p>
            <a:pPr algn="ctr">
              <a:defRPr sz="1800" b="1">
                <a:solidFill>
                  <a:srgbClr val="00C8C8"/>
                </a:solidFill>
                <a:latin typeface="Calibri"/>
              </a:defRPr>
            </a:pPr>
            <a:r>
              <a:t>02</a:t>
            </a:r>
          </a:p>
        </p:txBody>
      </p:sp>
      <p:sp>
        <p:nvSpPr>
          <p:cNvPr id="19" name="TextBox 18"/>
          <p:cNvSpPr txBox="1"/>
          <p:nvPr/>
        </p:nvSpPr>
        <p:spPr>
          <a:xfrm>
            <a:off x="2148840" y="2514600"/>
            <a:ext cx="1417320" cy="411480"/>
          </a:xfrm>
          <a:prstGeom prst="rect">
            <a:avLst/>
          </a:prstGeom>
          <a:noFill/>
        </p:spPr>
        <p:txBody>
          <a:bodyPr wrap="square" lIns="0" rIns="0" tIns="0" bIns="0">
            <a:spAutoFit/>
          </a:bodyPr>
          <a:lstStyle/>
          <a:p>
            <a:pPr algn="ctr">
              <a:defRPr sz="1500" b="1">
                <a:solidFill>
                  <a:srgbClr val="0A1F3D"/>
                </a:solidFill>
                <a:latin typeface="Calibri"/>
              </a:defRPr>
            </a:pPr>
            <a:r>
              <a:t>Preprocess</a:t>
            </a:r>
          </a:p>
        </p:txBody>
      </p:sp>
      <p:sp>
        <p:nvSpPr>
          <p:cNvPr id="20" name="TextBox 19"/>
          <p:cNvSpPr txBox="1"/>
          <p:nvPr/>
        </p:nvSpPr>
        <p:spPr>
          <a:xfrm>
            <a:off x="2148840" y="2971800"/>
            <a:ext cx="1417320" cy="1554480"/>
          </a:xfrm>
          <a:prstGeom prst="rect">
            <a:avLst/>
          </a:prstGeom>
          <a:noFill/>
        </p:spPr>
        <p:txBody>
          <a:bodyPr wrap="square" lIns="0" rIns="0" tIns="0" bIns="0">
            <a:spAutoFit/>
          </a:bodyPr>
          <a:lstStyle/>
          <a:p>
            <a:pPr algn="ctr">
              <a:defRPr sz="1000" b="0">
                <a:solidFill>
                  <a:srgbClr val="475569"/>
                </a:solidFill>
                <a:latin typeface="Calibri"/>
              </a:defRPr>
            </a:pPr>
            <a:r>
              <a:t>Drop dead columns, fill missing values, encode labels</a:t>
            </a:r>
          </a:p>
        </p:txBody>
      </p:sp>
      <p:sp>
        <p:nvSpPr>
          <p:cNvPr id="21" name="Rectangle 20"/>
          <p:cNvSpPr/>
          <p:nvPr/>
        </p:nvSpPr>
        <p:spPr>
          <a:xfrm>
            <a:off x="3703320" y="1874519"/>
            <a:ext cx="1600200" cy="274320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703320" y="1874519"/>
            <a:ext cx="1600200" cy="502920"/>
          </a:xfrm>
          <a:prstGeom prst="rect">
            <a:avLst/>
          </a:prstGeom>
          <a:solidFill>
            <a:srgbClr val="0A1F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794759" y="1938527"/>
            <a:ext cx="1417320" cy="411480"/>
          </a:xfrm>
          <a:prstGeom prst="rect">
            <a:avLst/>
          </a:prstGeom>
          <a:noFill/>
        </p:spPr>
        <p:txBody>
          <a:bodyPr wrap="square" lIns="0" rIns="0" tIns="0" bIns="0">
            <a:spAutoFit/>
          </a:bodyPr>
          <a:lstStyle/>
          <a:p>
            <a:pPr algn="ctr">
              <a:defRPr sz="1800" b="1">
                <a:solidFill>
                  <a:srgbClr val="00C8C8"/>
                </a:solidFill>
                <a:latin typeface="Calibri"/>
              </a:defRPr>
            </a:pPr>
            <a:r>
              <a:t>03</a:t>
            </a:r>
          </a:p>
        </p:txBody>
      </p:sp>
      <p:sp>
        <p:nvSpPr>
          <p:cNvPr id="24" name="TextBox 23"/>
          <p:cNvSpPr txBox="1"/>
          <p:nvPr/>
        </p:nvSpPr>
        <p:spPr>
          <a:xfrm>
            <a:off x="3794759" y="2514600"/>
            <a:ext cx="1417320" cy="411480"/>
          </a:xfrm>
          <a:prstGeom prst="rect">
            <a:avLst/>
          </a:prstGeom>
          <a:noFill/>
        </p:spPr>
        <p:txBody>
          <a:bodyPr wrap="square" lIns="0" rIns="0" tIns="0" bIns="0">
            <a:spAutoFit/>
          </a:bodyPr>
          <a:lstStyle/>
          <a:p>
            <a:pPr algn="ctr">
              <a:defRPr sz="1500" b="1">
                <a:solidFill>
                  <a:srgbClr val="0A1F3D"/>
                </a:solidFill>
                <a:latin typeface="Calibri"/>
              </a:defRPr>
            </a:pPr>
            <a:r>
              <a:t>Explore</a:t>
            </a:r>
          </a:p>
        </p:txBody>
      </p:sp>
      <p:sp>
        <p:nvSpPr>
          <p:cNvPr id="25" name="TextBox 24"/>
          <p:cNvSpPr txBox="1"/>
          <p:nvPr/>
        </p:nvSpPr>
        <p:spPr>
          <a:xfrm>
            <a:off x="3794759" y="2971800"/>
            <a:ext cx="1417320" cy="1554480"/>
          </a:xfrm>
          <a:prstGeom prst="rect">
            <a:avLst/>
          </a:prstGeom>
          <a:noFill/>
        </p:spPr>
        <p:txBody>
          <a:bodyPr wrap="square" lIns="0" rIns="0" tIns="0" bIns="0">
            <a:spAutoFit/>
          </a:bodyPr>
          <a:lstStyle/>
          <a:p>
            <a:pPr algn="ctr">
              <a:defRPr sz="1000" b="0">
                <a:solidFill>
                  <a:srgbClr val="475569"/>
                </a:solidFill>
                <a:latin typeface="Calibri"/>
              </a:defRPr>
            </a:pPr>
            <a:r>
              <a:t>Generate distribution charts and protocol breakdowns</a:t>
            </a:r>
          </a:p>
        </p:txBody>
      </p:sp>
      <p:sp>
        <p:nvSpPr>
          <p:cNvPr id="26" name="Rectangle 25"/>
          <p:cNvSpPr/>
          <p:nvPr/>
        </p:nvSpPr>
        <p:spPr>
          <a:xfrm>
            <a:off x="5349240" y="1874519"/>
            <a:ext cx="1600200" cy="274320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349240" y="1874519"/>
            <a:ext cx="1600200" cy="502920"/>
          </a:xfrm>
          <a:prstGeom prst="rect">
            <a:avLst/>
          </a:prstGeom>
          <a:solidFill>
            <a:srgbClr val="0A1F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440680" y="1938527"/>
            <a:ext cx="1417320" cy="411480"/>
          </a:xfrm>
          <a:prstGeom prst="rect">
            <a:avLst/>
          </a:prstGeom>
          <a:noFill/>
        </p:spPr>
        <p:txBody>
          <a:bodyPr wrap="square" lIns="0" rIns="0" tIns="0" bIns="0">
            <a:spAutoFit/>
          </a:bodyPr>
          <a:lstStyle/>
          <a:p>
            <a:pPr algn="ctr">
              <a:defRPr sz="1800" b="1">
                <a:solidFill>
                  <a:srgbClr val="00C8C8"/>
                </a:solidFill>
                <a:latin typeface="Calibri"/>
              </a:defRPr>
            </a:pPr>
            <a:r>
              <a:t>04</a:t>
            </a:r>
          </a:p>
        </p:txBody>
      </p:sp>
      <p:sp>
        <p:nvSpPr>
          <p:cNvPr id="29" name="TextBox 28"/>
          <p:cNvSpPr txBox="1"/>
          <p:nvPr/>
        </p:nvSpPr>
        <p:spPr>
          <a:xfrm>
            <a:off x="5440680" y="2514600"/>
            <a:ext cx="1417320" cy="411480"/>
          </a:xfrm>
          <a:prstGeom prst="rect">
            <a:avLst/>
          </a:prstGeom>
          <a:noFill/>
        </p:spPr>
        <p:txBody>
          <a:bodyPr wrap="square" lIns="0" rIns="0" tIns="0" bIns="0">
            <a:spAutoFit/>
          </a:bodyPr>
          <a:lstStyle/>
          <a:p>
            <a:pPr algn="ctr">
              <a:defRPr sz="1500" b="1">
                <a:solidFill>
                  <a:srgbClr val="0A1F3D"/>
                </a:solidFill>
                <a:latin typeface="Calibri"/>
              </a:defRPr>
            </a:pPr>
            <a:r>
              <a:t>Split</a:t>
            </a:r>
          </a:p>
        </p:txBody>
      </p:sp>
      <p:sp>
        <p:nvSpPr>
          <p:cNvPr id="30" name="TextBox 29"/>
          <p:cNvSpPr txBox="1"/>
          <p:nvPr/>
        </p:nvSpPr>
        <p:spPr>
          <a:xfrm>
            <a:off x="5440680" y="2971800"/>
            <a:ext cx="1417320" cy="1554480"/>
          </a:xfrm>
          <a:prstGeom prst="rect">
            <a:avLst/>
          </a:prstGeom>
          <a:noFill/>
        </p:spPr>
        <p:txBody>
          <a:bodyPr wrap="square" lIns="0" rIns="0" tIns="0" bIns="0">
            <a:spAutoFit/>
          </a:bodyPr>
          <a:lstStyle/>
          <a:p>
            <a:pPr algn="ctr">
              <a:defRPr sz="1000" b="0">
                <a:solidFill>
                  <a:srgbClr val="475569"/>
                </a:solidFill>
                <a:latin typeface="Calibri"/>
              </a:defRPr>
            </a:pPr>
            <a:r>
              <a:t>70% train (1.32M) / 30% test (565K), stratified</a:t>
            </a:r>
          </a:p>
        </p:txBody>
      </p:sp>
      <p:sp>
        <p:nvSpPr>
          <p:cNvPr id="31" name="Rectangle 30"/>
          <p:cNvSpPr/>
          <p:nvPr/>
        </p:nvSpPr>
        <p:spPr>
          <a:xfrm>
            <a:off x="6995160" y="1874519"/>
            <a:ext cx="1600200" cy="274320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995160" y="1874519"/>
            <a:ext cx="1600200" cy="502920"/>
          </a:xfrm>
          <a:prstGeom prst="rect">
            <a:avLst/>
          </a:prstGeom>
          <a:solidFill>
            <a:srgbClr val="0A1F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086600" y="1938527"/>
            <a:ext cx="1417320" cy="411480"/>
          </a:xfrm>
          <a:prstGeom prst="rect">
            <a:avLst/>
          </a:prstGeom>
          <a:noFill/>
        </p:spPr>
        <p:txBody>
          <a:bodyPr wrap="square" lIns="0" rIns="0" tIns="0" bIns="0">
            <a:spAutoFit/>
          </a:bodyPr>
          <a:lstStyle/>
          <a:p>
            <a:pPr algn="ctr">
              <a:defRPr sz="1800" b="1">
                <a:solidFill>
                  <a:srgbClr val="00C8C8"/>
                </a:solidFill>
                <a:latin typeface="Calibri"/>
              </a:defRPr>
            </a:pPr>
            <a:r>
              <a:t>05</a:t>
            </a:r>
          </a:p>
        </p:txBody>
      </p:sp>
      <p:sp>
        <p:nvSpPr>
          <p:cNvPr id="34" name="TextBox 33"/>
          <p:cNvSpPr txBox="1"/>
          <p:nvPr/>
        </p:nvSpPr>
        <p:spPr>
          <a:xfrm>
            <a:off x="7086600" y="2514600"/>
            <a:ext cx="1417320" cy="411480"/>
          </a:xfrm>
          <a:prstGeom prst="rect">
            <a:avLst/>
          </a:prstGeom>
          <a:noFill/>
        </p:spPr>
        <p:txBody>
          <a:bodyPr wrap="square" lIns="0" rIns="0" tIns="0" bIns="0">
            <a:spAutoFit/>
          </a:bodyPr>
          <a:lstStyle/>
          <a:p>
            <a:pPr algn="ctr">
              <a:defRPr sz="1500" b="1">
                <a:solidFill>
                  <a:srgbClr val="0A1F3D"/>
                </a:solidFill>
                <a:latin typeface="Calibri"/>
              </a:defRPr>
            </a:pPr>
            <a:r>
              <a:t>Train</a:t>
            </a:r>
          </a:p>
        </p:txBody>
      </p:sp>
      <p:sp>
        <p:nvSpPr>
          <p:cNvPr id="35" name="TextBox 34"/>
          <p:cNvSpPr txBox="1"/>
          <p:nvPr/>
        </p:nvSpPr>
        <p:spPr>
          <a:xfrm>
            <a:off x="7086600" y="2971800"/>
            <a:ext cx="1417320" cy="1554480"/>
          </a:xfrm>
          <a:prstGeom prst="rect">
            <a:avLst/>
          </a:prstGeom>
          <a:noFill/>
        </p:spPr>
        <p:txBody>
          <a:bodyPr wrap="square" lIns="0" rIns="0" tIns="0" bIns="0">
            <a:spAutoFit/>
          </a:bodyPr>
          <a:lstStyle/>
          <a:p>
            <a:pPr algn="ctr">
              <a:defRPr sz="1000" b="0">
                <a:solidFill>
                  <a:srgbClr val="475569"/>
                </a:solidFill>
                <a:latin typeface="Calibri"/>
              </a:defRPr>
            </a:pPr>
            <a:r>
              <a:t>Random Forest classifier — 100 decision trees</a:t>
            </a:r>
          </a:p>
        </p:txBody>
      </p:sp>
      <p:sp>
        <p:nvSpPr>
          <p:cNvPr id="36" name="Rectangle 35"/>
          <p:cNvSpPr/>
          <p:nvPr/>
        </p:nvSpPr>
        <p:spPr>
          <a:xfrm>
            <a:off x="8641080" y="1874519"/>
            <a:ext cx="1600200" cy="274320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8641080" y="1874519"/>
            <a:ext cx="1600200" cy="502920"/>
          </a:xfrm>
          <a:prstGeom prst="rect">
            <a:avLst/>
          </a:prstGeom>
          <a:solidFill>
            <a:srgbClr val="0A1F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732519" y="1938527"/>
            <a:ext cx="1417320" cy="411480"/>
          </a:xfrm>
          <a:prstGeom prst="rect">
            <a:avLst/>
          </a:prstGeom>
          <a:noFill/>
        </p:spPr>
        <p:txBody>
          <a:bodyPr wrap="square" lIns="0" rIns="0" tIns="0" bIns="0">
            <a:spAutoFit/>
          </a:bodyPr>
          <a:lstStyle/>
          <a:p>
            <a:pPr algn="ctr">
              <a:defRPr sz="1800" b="1">
                <a:solidFill>
                  <a:srgbClr val="00C8C8"/>
                </a:solidFill>
                <a:latin typeface="Calibri"/>
              </a:defRPr>
            </a:pPr>
            <a:r>
              <a:t>06</a:t>
            </a:r>
          </a:p>
        </p:txBody>
      </p:sp>
      <p:sp>
        <p:nvSpPr>
          <p:cNvPr id="39" name="TextBox 38"/>
          <p:cNvSpPr txBox="1"/>
          <p:nvPr/>
        </p:nvSpPr>
        <p:spPr>
          <a:xfrm>
            <a:off x="8732519" y="2514600"/>
            <a:ext cx="1417320" cy="411480"/>
          </a:xfrm>
          <a:prstGeom prst="rect">
            <a:avLst/>
          </a:prstGeom>
          <a:noFill/>
        </p:spPr>
        <p:txBody>
          <a:bodyPr wrap="square" lIns="0" rIns="0" tIns="0" bIns="0">
            <a:spAutoFit/>
          </a:bodyPr>
          <a:lstStyle/>
          <a:p>
            <a:pPr algn="ctr">
              <a:defRPr sz="1500" b="1">
                <a:solidFill>
                  <a:srgbClr val="0A1F3D"/>
                </a:solidFill>
                <a:latin typeface="Calibri"/>
              </a:defRPr>
            </a:pPr>
            <a:r>
              <a:t>Evaluate</a:t>
            </a:r>
          </a:p>
        </p:txBody>
      </p:sp>
      <p:sp>
        <p:nvSpPr>
          <p:cNvPr id="40" name="TextBox 39"/>
          <p:cNvSpPr txBox="1"/>
          <p:nvPr/>
        </p:nvSpPr>
        <p:spPr>
          <a:xfrm>
            <a:off x="8732519" y="2971800"/>
            <a:ext cx="1417320" cy="1554480"/>
          </a:xfrm>
          <a:prstGeom prst="rect">
            <a:avLst/>
          </a:prstGeom>
          <a:noFill/>
        </p:spPr>
        <p:txBody>
          <a:bodyPr wrap="square" lIns="0" rIns="0" tIns="0" bIns="0">
            <a:spAutoFit/>
          </a:bodyPr>
          <a:lstStyle/>
          <a:p>
            <a:pPr algn="ctr">
              <a:defRPr sz="1000" b="0">
                <a:solidFill>
                  <a:srgbClr val="475569"/>
                </a:solidFill>
                <a:latin typeface="Calibri"/>
              </a:defRPr>
            </a:pPr>
            <a:r>
              <a:t>Accuracy, precision, recall, confusion matrix</a:t>
            </a:r>
          </a:p>
        </p:txBody>
      </p:sp>
      <p:sp>
        <p:nvSpPr>
          <p:cNvPr id="41" name="Rectangle 40"/>
          <p:cNvSpPr/>
          <p:nvPr/>
        </p:nvSpPr>
        <p:spPr>
          <a:xfrm>
            <a:off x="10287000" y="1874519"/>
            <a:ext cx="1600200" cy="274320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10287000" y="1874519"/>
            <a:ext cx="1600200" cy="502920"/>
          </a:xfrm>
          <a:prstGeom prst="rect">
            <a:avLst/>
          </a:prstGeom>
          <a:solidFill>
            <a:srgbClr val="0A1F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378440" y="1938527"/>
            <a:ext cx="1417320" cy="411480"/>
          </a:xfrm>
          <a:prstGeom prst="rect">
            <a:avLst/>
          </a:prstGeom>
          <a:noFill/>
        </p:spPr>
        <p:txBody>
          <a:bodyPr wrap="square" lIns="0" rIns="0" tIns="0" bIns="0">
            <a:spAutoFit/>
          </a:bodyPr>
          <a:lstStyle/>
          <a:p>
            <a:pPr algn="ctr">
              <a:defRPr sz="1800" b="1">
                <a:solidFill>
                  <a:srgbClr val="00C8C8"/>
                </a:solidFill>
                <a:latin typeface="Calibri"/>
              </a:defRPr>
            </a:pPr>
            <a:r>
              <a:t>07</a:t>
            </a:r>
          </a:p>
        </p:txBody>
      </p:sp>
      <p:sp>
        <p:nvSpPr>
          <p:cNvPr id="44" name="TextBox 43"/>
          <p:cNvSpPr txBox="1"/>
          <p:nvPr/>
        </p:nvSpPr>
        <p:spPr>
          <a:xfrm>
            <a:off x="10378440" y="2514600"/>
            <a:ext cx="1417320" cy="411480"/>
          </a:xfrm>
          <a:prstGeom prst="rect">
            <a:avLst/>
          </a:prstGeom>
          <a:noFill/>
        </p:spPr>
        <p:txBody>
          <a:bodyPr wrap="square" lIns="0" rIns="0" tIns="0" bIns="0">
            <a:spAutoFit/>
          </a:bodyPr>
          <a:lstStyle/>
          <a:p>
            <a:pPr algn="ctr">
              <a:defRPr sz="1500" b="1">
                <a:solidFill>
                  <a:srgbClr val="0A1F3D"/>
                </a:solidFill>
                <a:latin typeface="Calibri"/>
              </a:defRPr>
            </a:pPr>
            <a:r>
              <a:t>Visualize</a:t>
            </a:r>
          </a:p>
        </p:txBody>
      </p:sp>
      <p:sp>
        <p:nvSpPr>
          <p:cNvPr id="45" name="TextBox 44"/>
          <p:cNvSpPr txBox="1"/>
          <p:nvPr/>
        </p:nvSpPr>
        <p:spPr>
          <a:xfrm>
            <a:off x="10378440" y="2971800"/>
            <a:ext cx="1417320" cy="1554480"/>
          </a:xfrm>
          <a:prstGeom prst="rect">
            <a:avLst/>
          </a:prstGeom>
          <a:noFill/>
        </p:spPr>
        <p:txBody>
          <a:bodyPr wrap="square" lIns="0" rIns="0" tIns="0" bIns="0">
            <a:spAutoFit/>
          </a:bodyPr>
          <a:lstStyle/>
          <a:p>
            <a:pPr algn="ctr">
              <a:defRPr sz="1000" b="0">
                <a:solidFill>
                  <a:srgbClr val="475569"/>
                </a:solidFill>
                <a:latin typeface="Calibri"/>
              </a:defRPr>
            </a:pPr>
            <a:r>
              <a:t>Save all results as PNGs in results/</a:t>
            </a:r>
          </a:p>
        </p:txBody>
      </p:sp>
      <p:sp>
        <p:nvSpPr>
          <p:cNvPr id="46" name="Rectangle 45"/>
          <p:cNvSpPr/>
          <p:nvPr/>
        </p:nvSpPr>
        <p:spPr>
          <a:xfrm>
            <a:off x="457200" y="4937760"/>
            <a:ext cx="11247120" cy="640080"/>
          </a:xfrm>
          <a:prstGeom prst="rect">
            <a:avLst/>
          </a:prstGeom>
          <a:solidFill>
            <a:srgbClr val="0A1F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40080" y="5029200"/>
            <a:ext cx="3200400" cy="457200"/>
          </a:xfrm>
          <a:prstGeom prst="rect">
            <a:avLst/>
          </a:prstGeom>
          <a:noFill/>
        </p:spPr>
        <p:txBody>
          <a:bodyPr wrap="square" lIns="0" rIns="0" tIns="0" bIns="0">
            <a:spAutoFit/>
          </a:bodyPr>
          <a:lstStyle/>
          <a:p>
            <a:pPr>
              <a:defRPr sz="1100" b="1">
                <a:solidFill>
                  <a:srgbClr val="00C8C8"/>
                </a:solidFill>
                <a:latin typeface="Calibri"/>
              </a:defRPr>
            </a:pPr>
            <a:r>
              <a:t>TECH STACK</a:t>
            </a:r>
          </a:p>
        </p:txBody>
      </p:sp>
      <p:sp>
        <p:nvSpPr>
          <p:cNvPr id="48" name="TextBox 47"/>
          <p:cNvSpPr txBox="1"/>
          <p:nvPr/>
        </p:nvSpPr>
        <p:spPr>
          <a:xfrm>
            <a:off x="3657600" y="5047488"/>
            <a:ext cx="8229600" cy="457200"/>
          </a:xfrm>
          <a:prstGeom prst="rect">
            <a:avLst/>
          </a:prstGeom>
          <a:noFill/>
        </p:spPr>
        <p:txBody>
          <a:bodyPr wrap="square" lIns="0" rIns="0" tIns="0" bIns="0">
            <a:spAutoFit/>
          </a:bodyPr>
          <a:lstStyle/>
          <a:p>
            <a:pPr>
              <a:defRPr sz="1400" b="1">
                <a:solidFill>
                  <a:srgbClr val="FFFFFF"/>
                </a:solidFill>
                <a:latin typeface="Calibri"/>
              </a:defRPr>
            </a:pPr>
            <a:r>
              <a:t>Python 3   •   pandas   •   scikit-learn   •   matplotlib   •   seaborn</a:t>
            </a:r>
          </a:p>
        </p:txBody>
      </p:sp>
      <p:sp>
        <p:nvSpPr>
          <p:cNvPr id="49" name="TextBox 48"/>
          <p:cNvSpPr txBox="1"/>
          <p:nvPr/>
        </p:nvSpPr>
        <p:spPr>
          <a:xfrm>
            <a:off x="457200" y="5852160"/>
            <a:ext cx="11247120" cy="320040"/>
          </a:xfrm>
          <a:prstGeom prst="rect">
            <a:avLst/>
          </a:prstGeom>
          <a:noFill/>
        </p:spPr>
        <p:txBody>
          <a:bodyPr wrap="square" lIns="0" rIns="0" tIns="0" bIns="0">
            <a:spAutoFit/>
          </a:bodyPr>
          <a:lstStyle/>
          <a:p>
            <a:pPr algn="ctr">
              <a:defRPr sz="1200" b="0">
                <a:solidFill>
                  <a:srgbClr val="475569"/>
                </a:solidFill>
                <a:latin typeface="Calibri"/>
              </a:defRPr>
            </a:pPr>
            <a:r>
              <a:t>End-to-end runtime on full dataset: under 30 seconds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09728"/>
          </a:xfrm>
          <a:prstGeom prst="rect">
            <a:avLst/>
          </a:prstGeom>
          <a:solidFill>
            <a:srgbClr val="00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446520"/>
            <a:ext cx="12188952" cy="411480"/>
          </a:xfrm>
          <a:prstGeom prst="rect">
            <a:avLst/>
          </a:prstGeom>
          <a:solidFill>
            <a:srgbClr val="0A1F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6519672"/>
            <a:ext cx="8229600" cy="292608"/>
          </a:xfrm>
          <a:prstGeom prst="rect">
            <a:avLst/>
          </a:prstGeom>
          <a:noFill/>
        </p:spPr>
        <p:txBody>
          <a:bodyPr wrap="square" lIns="0" rIns="0" tIns="0" bIns="0">
            <a:spAutoFit/>
          </a:bodyPr>
          <a:lstStyle/>
          <a:p>
            <a:pPr>
              <a:defRPr sz="1000" b="0">
                <a:solidFill>
                  <a:srgbClr val="FFFFFF"/>
                </a:solidFill>
                <a:latin typeface="Calibri"/>
              </a:defRPr>
            </a:pPr>
            <a:r>
              <a:t>IoT Botnet Detection  •  Linux Team Project  •  Alabama A&amp;M University</a:t>
            </a:r>
          </a:p>
        </p:txBody>
      </p:sp>
      <p:sp>
        <p:nvSpPr>
          <p:cNvPr id="6" name="TextBox 5"/>
          <p:cNvSpPr txBox="1"/>
          <p:nvPr/>
        </p:nvSpPr>
        <p:spPr>
          <a:xfrm>
            <a:off x="10972800" y="6519672"/>
            <a:ext cx="1097280" cy="292608"/>
          </a:xfrm>
          <a:prstGeom prst="rect">
            <a:avLst/>
          </a:prstGeom>
          <a:noFill/>
        </p:spPr>
        <p:txBody>
          <a:bodyPr wrap="square" lIns="0" rIns="0" tIns="0" bIns="0">
            <a:spAutoFit/>
          </a:bodyPr>
          <a:lstStyle/>
          <a:p>
            <a:pPr algn="r">
              <a:defRPr sz="1000" b="1">
                <a:solidFill>
                  <a:srgbClr val="00C8C8"/>
                </a:solidFill>
                <a:latin typeface="Calibri"/>
              </a:defRPr>
            </a:pPr>
            <a:r>
              <a:t>06 / 10</a:t>
            </a:r>
          </a:p>
        </p:txBody>
      </p:sp>
      <p:sp>
        <p:nvSpPr>
          <p:cNvPr id="7" name="Rectangle 6"/>
          <p:cNvSpPr/>
          <p:nvPr/>
        </p:nvSpPr>
        <p:spPr>
          <a:xfrm>
            <a:off x="365760" y="502920"/>
            <a:ext cx="109728" cy="868680"/>
          </a:xfrm>
          <a:prstGeom prst="rect">
            <a:avLst/>
          </a:prstGeom>
          <a:solidFill>
            <a:srgbClr val="00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502920"/>
            <a:ext cx="10972800" cy="320040"/>
          </a:xfrm>
          <a:prstGeom prst="rect">
            <a:avLst/>
          </a:prstGeom>
          <a:noFill/>
        </p:spPr>
        <p:txBody>
          <a:bodyPr wrap="square" lIns="0" rIns="0" tIns="0" bIns="0">
            <a:spAutoFit/>
          </a:bodyPr>
          <a:lstStyle/>
          <a:p>
            <a:pPr>
              <a:defRPr sz="1200" b="1">
                <a:solidFill>
                  <a:srgbClr val="00C8C8"/>
                </a:solidFill>
                <a:latin typeface="Calibri"/>
              </a:defRPr>
            </a:pPr>
            <a:r>
              <a:t>05  •  EXPLORATION</a:t>
            </a:r>
          </a:p>
        </p:txBody>
      </p:sp>
      <p:sp>
        <p:nvSpPr>
          <p:cNvPr id="9" name="TextBox 8"/>
          <p:cNvSpPr txBox="1"/>
          <p:nvPr/>
        </p:nvSpPr>
        <p:spPr>
          <a:xfrm>
            <a:off x="640080" y="777240"/>
            <a:ext cx="11430000" cy="685800"/>
          </a:xfrm>
          <a:prstGeom prst="rect">
            <a:avLst/>
          </a:prstGeom>
          <a:noFill/>
        </p:spPr>
        <p:txBody>
          <a:bodyPr wrap="square" lIns="0" rIns="0" tIns="0" bIns="0">
            <a:spAutoFit/>
          </a:bodyPr>
          <a:lstStyle/>
          <a:p>
            <a:pPr>
              <a:defRPr sz="3000" b="1">
                <a:solidFill>
                  <a:srgbClr val="0A1F3D"/>
                </a:solidFill>
                <a:latin typeface="Calibri"/>
              </a:defRPr>
            </a:pPr>
            <a:r>
              <a:t>What does the data look like?</a:t>
            </a:r>
          </a:p>
        </p:txBody>
      </p:sp>
      <p:sp>
        <p:nvSpPr>
          <p:cNvPr id="10" name="Rectangle 9"/>
          <p:cNvSpPr/>
          <p:nvPr/>
        </p:nvSpPr>
        <p:spPr>
          <a:xfrm>
            <a:off x="365760" y="1417320"/>
            <a:ext cx="11430000" cy="2286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1783080"/>
            <a:ext cx="5669280"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1783080"/>
            <a:ext cx="5669280" cy="73152"/>
          </a:xfrm>
          <a:prstGeom prst="rect">
            <a:avLst/>
          </a:prstGeom>
          <a:solidFill>
            <a:srgbClr val="00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attack_distribution.png"/>
          <p:cNvPicPr>
            <a:picLocks noChangeAspect="1"/>
          </p:cNvPicPr>
          <p:nvPr/>
        </p:nvPicPr>
        <p:blipFill>
          <a:blip r:embed="rId2"/>
          <a:stretch>
            <a:fillRect/>
          </a:stretch>
        </p:blipFill>
        <p:spPr>
          <a:xfrm>
            <a:off x="594360" y="1965960"/>
            <a:ext cx="5394960" cy="3236976"/>
          </a:xfrm>
          <a:prstGeom prst="rect">
            <a:avLst/>
          </a:prstGeom>
        </p:spPr>
      </p:pic>
      <p:sp>
        <p:nvSpPr>
          <p:cNvPr id="14" name="Rectangle 13"/>
          <p:cNvSpPr/>
          <p:nvPr/>
        </p:nvSpPr>
        <p:spPr>
          <a:xfrm>
            <a:off x="6263640" y="1783080"/>
            <a:ext cx="5486400"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63640" y="1783080"/>
            <a:ext cx="5486400" cy="73152"/>
          </a:xfrm>
          <a:prstGeom prst="rect">
            <a:avLst/>
          </a:prstGeom>
          <a:solidFill>
            <a:srgbClr val="00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benign_vs_malicious.png"/>
          <p:cNvPicPr>
            <a:picLocks noChangeAspect="1"/>
          </p:cNvPicPr>
          <p:nvPr/>
        </p:nvPicPr>
        <p:blipFill>
          <a:blip r:embed="rId3"/>
          <a:stretch>
            <a:fillRect/>
          </a:stretch>
        </p:blipFill>
        <p:spPr>
          <a:xfrm>
            <a:off x="6766560" y="1965960"/>
            <a:ext cx="4023360" cy="4023360"/>
          </a:xfrm>
          <a:prstGeom prst="rect">
            <a:avLst/>
          </a:prstGeom>
        </p:spPr>
      </p:pic>
      <p:sp>
        <p:nvSpPr>
          <p:cNvPr id="17" name="TextBox 16"/>
          <p:cNvSpPr txBox="1"/>
          <p:nvPr/>
        </p:nvSpPr>
        <p:spPr>
          <a:xfrm>
            <a:off x="457200" y="6126480"/>
            <a:ext cx="11247120" cy="320040"/>
          </a:xfrm>
          <a:prstGeom prst="rect">
            <a:avLst/>
          </a:prstGeom>
          <a:noFill/>
        </p:spPr>
        <p:txBody>
          <a:bodyPr wrap="square" lIns="0" rIns="0" tIns="0" bIns="0">
            <a:spAutoFit/>
          </a:bodyPr>
          <a:lstStyle/>
          <a:p>
            <a:pPr algn="ctr">
              <a:defRPr sz="1200" b="1">
                <a:solidFill>
                  <a:srgbClr val="475569"/>
                </a:solidFill>
                <a:latin typeface="Calibri"/>
              </a:defRPr>
            </a:pPr>
            <a:r>
              <a:t>Benign traffic is the minority — model must learn to spot the rare case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09728"/>
          </a:xfrm>
          <a:prstGeom prst="rect">
            <a:avLst/>
          </a:prstGeom>
          <a:solidFill>
            <a:srgbClr val="00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446520"/>
            <a:ext cx="12188952" cy="411480"/>
          </a:xfrm>
          <a:prstGeom prst="rect">
            <a:avLst/>
          </a:prstGeom>
          <a:solidFill>
            <a:srgbClr val="0A1F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6519672"/>
            <a:ext cx="8229600" cy="292608"/>
          </a:xfrm>
          <a:prstGeom prst="rect">
            <a:avLst/>
          </a:prstGeom>
          <a:noFill/>
        </p:spPr>
        <p:txBody>
          <a:bodyPr wrap="square" lIns="0" rIns="0" tIns="0" bIns="0">
            <a:spAutoFit/>
          </a:bodyPr>
          <a:lstStyle/>
          <a:p>
            <a:pPr>
              <a:defRPr sz="1000" b="0">
                <a:solidFill>
                  <a:srgbClr val="FFFFFF"/>
                </a:solidFill>
                <a:latin typeface="Calibri"/>
              </a:defRPr>
            </a:pPr>
            <a:r>
              <a:t>IoT Botnet Detection  •  Linux Team Project  •  Alabama A&amp;M University</a:t>
            </a:r>
          </a:p>
        </p:txBody>
      </p:sp>
      <p:sp>
        <p:nvSpPr>
          <p:cNvPr id="6" name="TextBox 5"/>
          <p:cNvSpPr txBox="1"/>
          <p:nvPr/>
        </p:nvSpPr>
        <p:spPr>
          <a:xfrm>
            <a:off x="10972800" y="6519672"/>
            <a:ext cx="1097280" cy="292608"/>
          </a:xfrm>
          <a:prstGeom prst="rect">
            <a:avLst/>
          </a:prstGeom>
          <a:noFill/>
        </p:spPr>
        <p:txBody>
          <a:bodyPr wrap="square" lIns="0" rIns="0" tIns="0" bIns="0">
            <a:spAutoFit/>
          </a:bodyPr>
          <a:lstStyle/>
          <a:p>
            <a:pPr algn="r">
              <a:defRPr sz="1000" b="1">
                <a:solidFill>
                  <a:srgbClr val="00C8C8"/>
                </a:solidFill>
                <a:latin typeface="Calibri"/>
              </a:defRPr>
            </a:pPr>
            <a:r>
              <a:t>07 / 10</a:t>
            </a:r>
          </a:p>
        </p:txBody>
      </p:sp>
      <p:sp>
        <p:nvSpPr>
          <p:cNvPr id="7" name="Rectangle 6"/>
          <p:cNvSpPr/>
          <p:nvPr/>
        </p:nvSpPr>
        <p:spPr>
          <a:xfrm>
            <a:off x="365760" y="502920"/>
            <a:ext cx="109728" cy="868680"/>
          </a:xfrm>
          <a:prstGeom prst="rect">
            <a:avLst/>
          </a:prstGeom>
          <a:solidFill>
            <a:srgbClr val="00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502920"/>
            <a:ext cx="10972800" cy="320040"/>
          </a:xfrm>
          <a:prstGeom prst="rect">
            <a:avLst/>
          </a:prstGeom>
          <a:noFill/>
        </p:spPr>
        <p:txBody>
          <a:bodyPr wrap="square" lIns="0" rIns="0" tIns="0" bIns="0">
            <a:spAutoFit/>
          </a:bodyPr>
          <a:lstStyle/>
          <a:p>
            <a:pPr>
              <a:defRPr sz="1200" b="1">
                <a:solidFill>
                  <a:srgbClr val="00C8C8"/>
                </a:solidFill>
                <a:latin typeface="Calibri"/>
              </a:defRPr>
            </a:pPr>
            <a:r>
              <a:t>06  •  RESULTS</a:t>
            </a:r>
          </a:p>
        </p:txBody>
      </p:sp>
      <p:sp>
        <p:nvSpPr>
          <p:cNvPr id="9" name="TextBox 8"/>
          <p:cNvSpPr txBox="1"/>
          <p:nvPr/>
        </p:nvSpPr>
        <p:spPr>
          <a:xfrm>
            <a:off x="640080" y="777240"/>
            <a:ext cx="11430000" cy="685800"/>
          </a:xfrm>
          <a:prstGeom prst="rect">
            <a:avLst/>
          </a:prstGeom>
          <a:noFill/>
        </p:spPr>
        <p:txBody>
          <a:bodyPr wrap="square" lIns="0" rIns="0" tIns="0" bIns="0">
            <a:spAutoFit/>
          </a:bodyPr>
          <a:lstStyle/>
          <a:p>
            <a:pPr>
              <a:defRPr sz="3000" b="1">
                <a:solidFill>
                  <a:srgbClr val="0A1F3D"/>
                </a:solidFill>
                <a:latin typeface="Calibri"/>
              </a:defRPr>
            </a:pPr>
            <a:r>
              <a:t>Random Forest performance</a:t>
            </a:r>
          </a:p>
        </p:txBody>
      </p:sp>
      <p:sp>
        <p:nvSpPr>
          <p:cNvPr id="10" name="Rectangle 9"/>
          <p:cNvSpPr/>
          <p:nvPr/>
        </p:nvSpPr>
        <p:spPr>
          <a:xfrm>
            <a:off x="365760" y="1417320"/>
            <a:ext cx="11430000" cy="2286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1783080"/>
            <a:ext cx="5943600" cy="45262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1783080"/>
            <a:ext cx="5943600" cy="73152"/>
          </a:xfrm>
          <a:prstGeom prst="rect">
            <a:avLst/>
          </a:prstGeom>
          <a:solidFill>
            <a:srgbClr val="00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confusion_matrix.png"/>
          <p:cNvPicPr>
            <a:picLocks noChangeAspect="1"/>
          </p:cNvPicPr>
          <p:nvPr/>
        </p:nvPicPr>
        <p:blipFill>
          <a:blip r:embed="rId2"/>
          <a:stretch>
            <a:fillRect/>
          </a:stretch>
        </p:blipFill>
        <p:spPr>
          <a:xfrm>
            <a:off x="777240" y="1965960"/>
            <a:ext cx="4907280" cy="4206240"/>
          </a:xfrm>
          <a:prstGeom prst="rect">
            <a:avLst/>
          </a:prstGeom>
        </p:spPr>
      </p:pic>
      <p:sp>
        <p:nvSpPr>
          <p:cNvPr id="14" name="Rectangle 13"/>
          <p:cNvSpPr/>
          <p:nvPr/>
        </p:nvSpPr>
        <p:spPr>
          <a:xfrm>
            <a:off x="6583680" y="1783080"/>
            <a:ext cx="5212080" cy="1691640"/>
          </a:xfrm>
          <a:prstGeom prst="rect">
            <a:avLst/>
          </a:prstGeom>
          <a:solidFill>
            <a:srgbClr val="0A1F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675120" y="1874519"/>
            <a:ext cx="5029200" cy="320040"/>
          </a:xfrm>
          <a:prstGeom prst="rect">
            <a:avLst/>
          </a:prstGeom>
          <a:noFill/>
        </p:spPr>
        <p:txBody>
          <a:bodyPr wrap="square" lIns="0" rIns="0" tIns="0" bIns="0">
            <a:spAutoFit/>
          </a:bodyPr>
          <a:lstStyle/>
          <a:p>
            <a:pPr>
              <a:defRPr sz="1100" b="1">
                <a:solidFill>
                  <a:srgbClr val="00C8C8"/>
                </a:solidFill>
                <a:latin typeface="Calibri"/>
              </a:defRPr>
            </a:pPr>
            <a:r>
              <a:t>OVERALL ACCURACY</a:t>
            </a:r>
          </a:p>
        </p:txBody>
      </p:sp>
      <p:sp>
        <p:nvSpPr>
          <p:cNvPr id="16" name="TextBox 15"/>
          <p:cNvSpPr txBox="1"/>
          <p:nvPr/>
        </p:nvSpPr>
        <p:spPr>
          <a:xfrm>
            <a:off x="6675120" y="2194560"/>
            <a:ext cx="5029200" cy="1097280"/>
          </a:xfrm>
          <a:prstGeom prst="rect">
            <a:avLst/>
          </a:prstGeom>
          <a:noFill/>
        </p:spPr>
        <p:txBody>
          <a:bodyPr wrap="square" lIns="0" rIns="0" tIns="0" bIns="0">
            <a:spAutoFit/>
          </a:bodyPr>
          <a:lstStyle/>
          <a:p>
            <a:pPr>
              <a:defRPr sz="6400" b="1">
                <a:solidFill>
                  <a:srgbClr val="FFFFFF"/>
                </a:solidFill>
                <a:latin typeface="Calibri"/>
              </a:defRPr>
            </a:pPr>
            <a:r>
              <a:t>97.87%</a:t>
            </a:r>
          </a:p>
        </p:txBody>
      </p:sp>
      <p:sp>
        <p:nvSpPr>
          <p:cNvPr id="17" name="TextBox 16"/>
          <p:cNvSpPr txBox="1"/>
          <p:nvPr/>
        </p:nvSpPr>
        <p:spPr>
          <a:xfrm>
            <a:off x="6675120" y="3154680"/>
            <a:ext cx="5029200" cy="320040"/>
          </a:xfrm>
          <a:prstGeom prst="rect">
            <a:avLst/>
          </a:prstGeom>
          <a:noFill/>
        </p:spPr>
        <p:txBody>
          <a:bodyPr wrap="square" lIns="0" rIns="0" tIns="0" bIns="0">
            <a:spAutoFit/>
          </a:bodyPr>
          <a:lstStyle/>
          <a:p>
            <a:pPr>
              <a:defRPr sz="1100" b="0">
                <a:solidFill>
                  <a:srgbClr val="B8C4D6"/>
                </a:solidFill>
                <a:latin typeface="Calibri"/>
              </a:defRPr>
            </a:pPr>
            <a:r>
              <a:t>565,502 test connections classified correctly</a:t>
            </a:r>
          </a:p>
        </p:txBody>
      </p:sp>
      <p:sp>
        <p:nvSpPr>
          <p:cNvPr id="18" name="Rectangle 17"/>
          <p:cNvSpPr/>
          <p:nvPr/>
        </p:nvSpPr>
        <p:spPr>
          <a:xfrm>
            <a:off x="6583680" y="3657600"/>
            <a:ext cx="2514600" cy="128016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583680" y="3657600"/>
            <a:ext cx="2514600" cy="54864"/>
          </a:xfrm>
          <a:prstGeom prst="rect">
            <a:avLst/>
          </a:prstGeom>
          <a:solidFill>
            <a:srgbClr val="00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675120" y="3822191"/>
            <a:ext cx="2331720" cy="640080"/>
          </a:xfrm>
          <a:prstGeom prst="rect">
            <a:avLst/>
          </a:prstGeom>
          <a:noFill/>
        </p:spPr>
        <p:txBody>
          <a:bodyPr wrap="square" lIns="0" rIns="0" tIns="0" bIns="0">
            <a:spAutoFit/>
          </a:bodyPr>
          <a:lstStyle/>
          <a:p>
            <a:pPr algn="ctr">
              <a:defRPr sz="2600" b="1">
                <a:solidFill>
                  <a:srgbClr val="0A1F3D"/>
                </a:solidFill>
                <a:latin typeface="Calibri"/>
              </a:defRPr>
            </a:pPr>
            <a:r>
              <a:t>0.83</a:t>
            </a:r>
          </a:p>
        </p:txBody>
      </p:sp>
      <p:sp>
        <p:nvSpPr>
          <p:cNvPr id="21" name="TextBox 20"/>
          <p:cNvSpPr txBox="1"/>
          <p:nvPr/>
        </p:nvSpPr>
        <p:spPr>
          <a:xfrm>
            <a:off x="6675120" y="4526280"/>
            <a:ext cx="2331720" cy="320040"/>
          </a:xfrm>
          <a:prstGeom prst="rect">
            <a:avLst/>
          </a:prstGeom>
          <a:noFill/>
        </p:spPr>
        <p:txBody>
          <a:bodyPr wrap="square" lIns="0" rIns="0" tIns="0" bIns="0">
            <a:spAutoFit/>
          </a:bodyPr>
          <a:lstStyle/>
          <a:p>
            <a:pPr algn="ctr">
              <a:defRPr sz="1000" b="1">
                <a:solidFill>
                  <a:srgbClr val="475569"/>
                </a:solidFill>
                <a:latin typeface="Calibri"/>
              </a:defRPr>
            </a:pPr>
            <a:r>
              <a:t>BENIGN F1</a:t>
            </a:r>
          </a:p>
        </p:txBody>
      </p:sp>
      <p:sp>
        <p:nvSpPr>
          <p:cNvPr id="22" name="Rectangle 21"/>
          <p:cNvSpPr/>
          <p:nvPr/>
        </p:nvSpPr>
        <p:spPr>
          <a:xfrm>
            <a:off x="9281160" y="3657600"/>
            <a:ext cx="2514600" cy="128016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281160" y="3657600"/>
            <a:ext cx="2514600" cy="54864"/>
          </a:xfrm>
          <a:prstGeom prst="rect">
            <a:avLst/>
          </a:prstGeom>
          <a:solidFill>
            <a:srgbClr val="00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372600" y="3822191"/>
            <a:ext cx="2331720" cy="640080"/>
          </a:xfrm>
          <a:prstGeom prst="rect">
            <a:avLst/>
          </a:prstGeom>
          <a:noFill/>
        </p:spPr>
        <p:txBody>
          <a:bodyPr wrap="square" lIns="0" rIns="0" tIns="0" bIns="0">
            <a:spAutoFit/>
          </a:bodyPr>
          <a:lstStyle/>
          <a:p>
            <a:pPr algn="ctr">
              <a:defRPr sz="2600" b="1">
                <a:solidFill>
                  <a:srgbClr val="0A1F3D"/>
                </a:solidFill>
                <a:latin typeface="Calibri"/>
              </a:defRPr>
            </a:pPr>
            <a:r>
              <a:t>0.99</a:t>
            </a:r>
          </a:p>
        </p:txBody>
      </p:sp>
      <p:sp>
        <p:nvSpPr>
          <p:cNvPr id="25" name="TextBox 24"/>
          <p:cNvSpPr txBox="1"/>
          <p:nvPr/>
        </p:nvSpPr>
        <p:spPr>
          <a:xfrm>
            <a:off x="9372600" y="4526280"/>
            <a:ext cx="2331720" cy="320040"/>
          </a:xfrm>
          <a:prstGeom prst="rect">
            <a:avLst/>
          </a:prstGeom>
          <a:noFill/>
        </p:spPr>
        <p:txBody>
          <a:bodyPr wrap="square" lIns="0" rIns="0" tIns="0" bIns="0">
            <a:spAutoFit/>
          </a:bodyPr>
          <a:lstStyle/>
          <a:p>
            <a:pPr algn="ctr">
              <a:defRPr sz="1000" b="1">
                <a:solidFill>
                  <a:srgbClr val="475569"/>
                </a:solidFill>
                <a:latin typeface="Calibri"/>
              </a:defRPr>
            </a:pPr>
            <a:r>
              <a:t>MALICIOUS F1</a:t>
            </a:r>
          </a:p>
        </p:txBody>
      </p:sp>
      <p:sp>
        <p:nvSpPr>
          <p:cNvPr id="26" name="Rectangle 25"/>
          <p:cNvSpPr/>
          <p:nvPr/>
        </p:nvSpPr>
        <p:spPr>
          <a:xfrm>
            <a:off x="6583680" y="5074920"/>
            <a:ext cx="2514600" cy="128016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583680" y="5074920"/>
            <a:ext cx="2514600" cy="54864"/>
          </a:xfrm>
          <a:prstGeom prst="rect">
            <a:avLst/>
          </a:prstGeom>
          <a:solidFill>
            <a:srgbClr val="00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675120" y="5239512"/>
            <a:ext cx="2331720" cy="640080"/>
          </a:xfrm>
          <a:prstGeom prst="rect">
            <a:avLst/>
          </a:prstGeom>
          <a:noFill/>
        </p:spPr>
        <p:txBody>
          <a:bodyPr wrap="square" lIns="0" rIns="0" tIns="0" bIns="0">
            <a:spAutoFit/>
          </a:bodyPr>
          <a:lstStyle/>
          <a:p>
            <a:pPr algn="ctr">
              <a:defRPr sz="2600" b="1">
                <a:solidFill>
                  <a:srgbClr val="0A1F3D"/>
                </a:solidFill>
                <a:latin typeface="Calibri"/>
              </a:defRPr>
            </a:pPr>
            <a:r>
              <a:t>23.4s</a:t>
            </a:r>
          </a:p>
        </p:txBody>
      </p:sp>
      <p:sp>
        <p:nvSpPr>
          <p:cNvPr id="29" name="TextBox 28"/>
          <p:cNvSpPr txBox="1"/>
          <p:nvPr/>
        </p:nvSpPr>
        <p:spPr>
          <a:xfrm>
            <a:off x="6675120" y="5943600"/>
            <a:ext cx="2331720" cy="320040"/>
          </a:xfrm>
          <a:prstGeom prst="rect">
            <a:avLst/>
          </a:prstGeom>
          <a:noFill/>
        </p:spPr>
        <p:txBody>
          <a:bodyPr wrap="square" lIns="0" rIns="0" tIns="0" bIns="0">
            <a:spAutoFit/>
          </a:bodyPr>
          <a:lstStyle/>
          <a:p>
            <a:pPr algn="ctr">
              <a:defRPr sz="1000" b="1">
                <a:solidFill>
                  <a:srgbClr val="475569"/>
                </a:solidFill>
                <a:latin typeface="Calibri"/>
              </a:defRPr>
            </a:pPr>
            <a:r>
              <a:t>TRAINING TIME</a:t>
            </a:r>
          </a:p>
        </p:txBody>
      </p:sp>
      <p:sp>
        <p:nvSpPr>
          <p:cNvPr id="30" name="Rectangle 29"/>
          <p:cNvSpPr/>
          <p:nvPr/>
        </p:nvSpPr>
        <p:spPr>
          <a:xfrm>
            <a:off x="9281160" y="5074920"/>
            <a:ext cx="2514600" cy="128016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9281160" y="5074920"/>
            <a:ext cx="2514600" cy="54864"/>
          </a:xfrm>
          <a:prstGeom prst="rect">
            <a:avLst/>
          </a:prstGeom>
          <a:solidFill>
            <a:srgbClr val="00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372600" y="5239512"/>
            <a:ext cx="2331720" cy="640080"/>
          </a:xfrm>
          <a:prstGeom prst="rect">
            <a:avLst/>
          </a:prstGeom>
          <a:noFill/>
        </p:spPr>
        <p:txBody>
          <a:bodyPr wrap="square" lIns="0" rIns="0" tIns="0" bIns="0">
            <a:spAutoFit/>
          </a:bodyPr>
          <a:lstStyle/>
          <a:p>
            <a:pPr algn="ctr">
              <a:defRPr sz="2600" b="1">
                <a:solidFill>
                  <a:srgbClr val="0A1F3D"/>
                </a:solidFill>
                <a:latin typeface="Calibri"/>
              </a:defRPr>
            </a:pPr>
            <a:r>
              <a:t>0.7s</a:t>
            </a:r>
          </a:p>
        </p:txBody>
      </p:sp>
      <p:sp>
        <p:nvSpPr>
          <p:cNvPr id="33" name="TextBox 32"/>
          <p:cNvSpPr txBox="1"/>
          <p:nvPr/>
        </p:nvSpPr>
        <p:spPr>
          <a:xfrm>
            <a:off x="9372600" y="5943600"/>
            <a:ext cx="2331720" cy="320040"/>
          </a:xfrm>
          <a:prstGeom prst="rect">
            <a:avLst/>
          </a:prstGeom>
          <a:noFill/>
        </p:spPr>
        <p:txBody>
          <a:bodyPr wrap="square" lIns="0" rIns="0" tIns="0" bIns="0">
            <a:spAutoFit/>
          </a:bodyPr>
          <a:lstStyle/>
          <a:p>
            <a:pPr algn="ctr">
              <a:defRPr sz="1000" b="1">
                <a:solidFill>
                  <a:srgbClr val="475569"/>
                </a:solidFill>
                <a:latin typeface="Calibri"/>
              </a:defRPr>
            </a:pPr>
            <a:r>
              <a:t>PREDICTION TIME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09728"/>
          </a:xfrm>
          <a:prstGeom prst="rect">
            <a:avLst/>
          </a:prstGeom>
          <a:solidFill>
            <a:srgbClr val="00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446520"/>
            <a:ext cx="12188952" cy="411480"/>
          </a:xfrm>
          <a:prstGeom prst="rect">
            <a:avLst/>
          </a:prstGeom>
          <a:solidFill>
            <a:srgbClr val="0A1F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6519672"/>
            <a:ext cx="8229600" cy="292608"/>
          </a:xfrm>
          <a:prstGeom prst="rect">
            <a:avLst/>
          </a:prstGeom>
          <a:noFill/>
        </p:spPr>
        <p:txBody>
          <a:bodyPr wrap="square" lIns="0" rIns="0" tIns="0" bIns="0">
            <a:spAutoFit/>
          </a:bodyPr>
          <a:lstStyle/>
          <a:p>
            <a:pPr>
              <a:defRPr sz="1000" b="0">
                <a:solidFill>
                  <a:srgbClr val="FFFFFF"/>
                </a:solidFill>
                <a:latin typeface="Calibri"/>
              </a:defRPr>
            </a:pPr>
            <a:r>
              <a:t>IoT Botnet Detection  •  Linux Team Project  •  Alabama A&amp;M University</a:t>
            </a:r>
          </a:p>
        </p:txBody>
      </p:sp>
      <p:sp>
        <p:nvSpPr>
          <p:cNvPr id="6" name="TextBox 5"/>
          <p:cNvSpPr txBox="1"/>
          <p:nvPr/>
        </p:nvSpPr>
        <p:spPr>
          <a:xfrm>
            <a:off x="10972800" y="6519672"/>
            <a:ext cx="1097280" cy="292608"/>
          </a:xfrm>
          <a:prstGeom prst="rect">
            <a:avLst/>
          </a:prstGeom>
          <a:noFill/>
        </p:spPr>
        <p:txBody>
          <a:bodyPr wrap="square" lIns="0" rIns="0" tIns="0" bIns="0">
            <a:spAutoFit/>
          </a:bodyPr>
          <a:lstStyle/>
          <a:p>
            <a:pPr algn="r">
              <a:defRPr sz="1000" b="1">
                <a:solidFill>
                  <a:srgbClr val="00C8C8"/>
                </a:solidFill>
                <a:latin typeface="Calibri"/>
              </a:defRPr>
            </a:pPr>
            <a:r>
              <a:t>08 / 10</a:t>
            </a:r>
          </a:p>
        </p:txBody>
      </p:sp>
      <p:sp>
        <p:nvSpPr>
          <p:cNvPr id="7" name="Rectangle 6"/>
          <p:cNvSpPr/>
          <p:nvPr/>
        </p:nvSpPr>
        <p:spPr>
          <a:xfrm>
            <a:off x="365760" y="502920"/>
            <a:ext cx="109728" cy="868680"/>
          </a:xfrm>
          <a:prstGeom prst="rect">
            <a:avLst/>
          </a:prstGeom>
          <a:solidFill>
            <a:srgbClr val="00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502920"/>
            <a:ext cx="10972800" cy="320040"/>
          </a:xfrm>
          <a:prstGeom prst="rect">
            <a:avLst/>
          </a:prstGeom>
          <a:noFill/>
        </p:spPr>
        <p:txBody>
          <a:bodyPr wrap="square" lIns="0" rIns="0" tIns="0" bIns="0">
            <a:spAutoFit/>
          </a:bodyPr>
          <a:lstStyle/>
          <a:p>
            <a:pPr>
              <a:defRPr sz="1200" b="1">
                <a:solidFill>
                  <a:srgbClr val="00C8C8"/>
                </a:solidFill>
                <a:latin typeface="Calibri"/>
              </a:defRPr>
            </a:pPr>
            <a:r>
              <a:t>07  •  INSIGHTS</a:t>
            </a:r>
          </a:p>
        </p:txBody>
      </p:sp>
      <p:sp>
        <p:nvSpPr>
          <p:cNvPr id="9" name="TextBox 8"/>
          <p:cNvSpPr txBox="1"/>
          <p:nvPr/>
        </p:nvSpPr>
        <p:spPr>
          <a:xfrm>
            <a:off x="640080" y="777240"/>
            <a:ext cx="11430000" cy="685800"/>
          </a:xfrm>
          <a:prstGeom prst="rect">
            <a:avLst/>
          </a:prstGeom>
          <a:noFill/>
        </p:spPr>
        <p:txBody>
          <a:bodyPr wrap="square" lIns="0" rIns="0" tIns="0" bIns="0">
            <a:spAutoFit/>
          </a:bodyPr>
          <a:lstStyle/>
          <a:p>
            <a:pPr>
              <a:defRPr sz="3000" b="1">
                <a:solidFill>
                  <a:srgbClr val="0A1F3D"/>
                </a:solidFill>
                <a:latin typeface="Calibri"/>
              </a:defRPr>
            </a:pPr>
            <a:r>
              <a:t>Which features matter most?</a:t>
            </a:r>
          </a:p>
        </p:txBody>
      </p:sp>
      <p:sp>
        <p:nvSpPr>
          <p:cNvPr id="10" name="Rectangle 9"/>
          <p:cNvSpPr/>
          <p:nvPr/>
        </p:nvSpPr>
        <p:spPr>
          <a:xfrm>
            <a:off x="365760" y="1417320"/>
            <a:ext cx="11430000" cy="2286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1783080"/>
            <a:ext cx="6858000" cy="45262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1783080"/>
            <a:ext cx="6858000" cy="73152"/>
          </a:xfrm>
          <a:prstGeom prst="rect">
            <a:avLst/>
          </a:prstGeom>
          <a:solidFill>
            <a:srgbClr val="00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feature_importances.png"/>
          <p:cNvPicPr>
            <a:picLocks noChangeAspect="1"/>
          </p:cNvPicPr>
          <p:nvPr/>
        </p:nvPicPr>
        <p:blipFill>
          <a:blip r:embed="rId2"/>
          <a:stretch>
            <a:fillRect/>
          </a:stretch>
        </p:blipFill>
        <p:spPr>
          <a:xfrm>
            <a:off x="640080" y="1965960"/>
            <a:ext cx="6008914" cy="4206240"/>
          </a:xfrm>
          <a:prstGeom prst="rect">
            <a:avLst/>
          </a:prstGeom>
        </p:spPr>
      </p:pic>
      <p:sp>
        <p:nvSpPr>
          <p:cNvPr id="14" name="Rectangle 13"/>
          <p:cNvSpPr/>
          <p:nvPr/>
        </p:nvSpPr>
        <p:spPr>
          <a:xfrm>
            <a:off x="7498079" y="1783080"/>
            <a:ext cx="4297680" cy="4526280"/>
          </a:xfrm>
          <a:prstGeom prst="rect">
            <a:avLst/>
          </a:prstGeom>
          <a:solidFill>
            <a:srgbClr val="0A1F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680960" y="1920240"/>
            <a:ext cx="4023360" cy="365760"/>
          </a:xfrm>
          <a:prstGeom prst="rect">
            <a:avLst/>
          </a:prstGeom>
          <a:noFill/>
        </p:spPr>
        <p:txBody>
          <a:bodyPr wrap="square" lIns="0" rIns="0" tIns="0" bIns="0">
            <a:spAutoFit/>
          </a:bodyPr>
          <a:lstStyle/>
          <a:p>
            <a:pPr>
              <a:defRPr sz="1100" b="1">
                <a:solidFill>
                  <a:srgbClr val="00C8C8"/>
                </a:solidFill>
                <a:latin typeface="Calibri"/>
              </a:defRPr>
            </a:pPr>
            <a:r>
              <a:t>KEY INSIGHT</a:t>
            </a:r>
          </a:p>
        </p:txBody>
      </p:sp>
      <p:sp>
        <p:nvSpPr>
          <p:cNvPr id="16" name="TextBox 15"/>
          <p:cNvSpPr txBox="1"/>
          <p:nvPr/>
        </p:nvSpPr>
        <p:spPr>
          <a:xfrm>
            <a:off x="7680960" y="2286000"/>
            <a:ext cx="4023360" cy="594360"/>
          </a:xfrm>
          <a:prstGeom prst="rect">
            <a:avLst/>
          </a:prstGeom>
          <a:noFill/>
        </p:spPr>
        <p:txBody>
          <a:bodyPr wrap="square" lIns="0" rIns="0" tIns="0" bIns="0">
            <a:spAutoFit/>
          </a:bodyPr>
          <a:lstStyle/>
          <a:p>
            <a:pPr>
              <a:defRPr sz="2000" b="1">
                <a:solidFill>
                  <a:srgbClr val="FFFFFF"/>
                </a:solidFill>
                <a:latin typeface="Calibri"/>
              </a:defRPr>
            </a:pPr>
            <a:r>
              <a:t>Volume tells the story</a:t>
            </a:r>
          </a:p>
        </p:txBody>
      </p:sp>
      <p:sp>
        <p:nvSpPr>
          <p:cNvPr id="17" name="Rectangle 16"/>
          <p:cNvSpPr/>
          <p:nvPr/>
        </p:nvSpPr>
        <p:spPr>
          <a:xfrm>
            <a:off x="7680960" y="3017520"/>
            <a:ext cx="3931920" cy="1371600"/>
          </a:xfrm>
          <a:prstGeom prst="rect">
            <a:avLst/>
          </a:prstGeom>
          <a:solidFill>
            <a:srgbClr val="122B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18120" y="3108960"/>
            <a:ext cx="3657600" cy="365760"/>
          </a:xfrm>
          <a:prstGeom prst="rect">
            <a:avLst/>
          </a:prstGeom>
          <a:noFill/>
        </p:spPr>
        <p:txBody>
          <a:bodyPr wrap="square" lIns="0" rIns="0" tIns="0" bIns="0">
            <a:spAutoFit/>
          </a:bodyPr>
          <a:lstStyle/>
          <a:p>
            <a:pPr>
              <a:defRPr sz="1000" b="1">
                <a:solidFill>
                  <a:srgbClr val="00C8C8"/>
                </a:solidFill>
                <a:latin typeface="Calibri"/>
              </a:defRPr>
            </a:pPr>
            <a:r>
              <a:t>TOP PREDICTORS</a:t>
            </a:r>
          </a:p>
        </p:txBody>
      </p:sp>
      <p:sp>
        <p:nvSpPr>
          <p:cNvPr id="19" name="TextBox 18"/>
          <p:cNvSpPr txBox="1"/>
          <p:nvPr/>
        </p:nvSpPr>
        <p:spPr>
          <a:xfrm>
            <a:off x="7818120" y="3383280"/>
            <a:ext cx="3657600" cy="1005840"/>
          </a:xfrm>
          <a:prstGeom prst="rect">
            <a:avLst/>
          </a:prstGeom>
          <a:noFill/>
        </p:spPr>
        <p:txBody>
          <a:bodyPr wrap="square" lIns="0" rIns="0" tIns="0" bIns="0">
            <a:spAutoFit/>
          </a:bodyPr>
          <a:lstStyle/>
          <a:p>
            <a:pPr>
              <a:defRPr sz="1400" b="1">
                <a:solidFill>
                  <a:srgbClr val="FFFFFF"/>
                </a:solidFill>
                <a:latin typeface="Consolas"/>
              </a:defRPr>
            </a:pPr>
            <a:r>
              <a:t>orig_pkts</a:t>
            </a:r>
          </a:p>
          <a:p>
            <a:pPr>
              <a:defRPr sz="1400" b="1">
                <a:solidFill>
                  <a:srgbClr val="FFFFFF"/>
                </a:solidFill>
                <a:latin typeface="Consolas"/>
              </a:defRPr>
            </a:pPr>
            <a:r>
              <a:t>orig_ip_bytes</a:t>
            </a:r>
          </a:p>
          <a:p>
            <a:pPr>
              <a:defRPr sz="1400" b="1">
                <a:solidFill>
                  <a:srgbClr val="FFFFFF"/>
                </a:solidFill>
                <a:latin typeface="Consolas"/>
              </a:defRPr>
            </a:pPr>
            <a:r>
              <a:t>resp_bytes</a:t>
            </a:r>
          </a:p>
        </p:txBody>
      </p:sp>
      <p:sp>
        <p:nvSpPr>
          <p:cNvPr id="20" name="TextBox 19"/>
          <p:cNvSpPr txBox="1"/>
          <p:nvPr/>
        </p:nvSpPr>
        <p:spPr>
          <a:xfrm>
            <a:off x="7680960" y="4526280"/>
            <a:ext cx="4023360" cy="1691640"/>
          </a:xfrm>
          <a:prstGeom prst="rect">
            <a:avLst/>
          </a:prstGeom>
          <a:noFill/>
        </p:spPr>
        <p:txBody>
          <a:bodyPr wrap="square" lIns="0" rIns="0" tIns="0" bIns="0">
            <a:spAutoFit/>
          </a:bodyPr>
          <a:lstStyle/>
          <a:p>
            <a:pPr>
              <a:defRPr sz="1200" b="0">
                <a:solidFill>
                  <a:srgbClr val="B8C4D6"/>
                </a:solidFill>
                <a:latin typeface="Calibri"/>
              </a:defRPr>
            </a:pPr>
            <a:r>
              <a:t>DDoS and port-scan attacks send unusual packet volumes; C&amp;C traffic shows distinctive byte signatures. The model rediscovered what real-world security analysts already know.</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09728"/>
          </a:xfrm>
          <a:prstGeom prst="rect">
            <a:avLst/>
          </a:prstGeom>
          <a:solidFill>
            <a:srgbClr val="00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446520"/>
            <a:ext cx="12188952" cy="411480"/>
          </a:xfrm>
          <a:prstGeom prst="rect">
            <a:avLst/>
          </a:prstGeom>
          <a:solidFill>
            <a:srgbClr val="0A1F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6519672"/>
            <a:ext cx="8229600" cy="292608"/>
          </a:xfrm>
          <a:prstGeom prst="rect">
            <a:avLst/>
          </a:prstGeom>
          <a:noFill/>
        </p:spPr>
        <p:txBody>
          <a:bodyPr wrap="square" lIns="0" rIns="0" tIns="0" bIns="0">
            <a:spAutoFit/>
          </a:bodyPr>
          <a:lstStyle/>
          <a:p>
            <a:pPr>
              <a:defRPr sz="1000" b="0">
                <a:solidFill>
                  <a:srgbClr val="FFFFFF"/>
                </a:solidFill>
                <a:latin typeface="Calibri"/>
              </a:defRPr>
            </a:pPr>
            <a:r>
              <a:t>IoT Botnet Detection  •  Linux Team Project  •  Alabama A&amp;M University</a:t>
            </a:r>
          </a:p>
        </p:txBody>
      </p:sp>
      <p:sp>
        <p:nvSpPr>
          <p:cNvPr id="6" name="TextBox 5"/>
          <p:cNvSpPr txBox="1"/>
          <p:nvPr/>
        </p:nvSpPr>
        <p:spPr>
          <a:xfrm>
            <a:off x="10972800" y="6519672"/>
            <a:ext cx="1097280" cy="292608"/>
          </a:xfrm>
          <a:prstGeom prst="rect">
            <a:avLst/>
          </a:prstGeom>
          <a:noFill/>
        </p:spPr>
        <p:txBody>
          <a:bodyPr wrap="square" lIns="0" rIns="0" tIns="0" bIns="0">
            <a:spAutoFit/>
          </a:bodyPr>
          <a:lstStyle/>
          <a:p>
            <a:pPr algn="r">
              <a:defRPr sz="1000" b="1">
                <a:solidFill>
                  <a:srgbClr val="00C8C8"/>
                </a:solidFill>
                <a:latin typeface="Calibri"/>
              </a:defRPr>
            </a:pPr>
            <a:r>
              <a:t>09 / 10</a:t>
            </a:r>
          </a:p>
        </p:txBody>
      </p:sp>
      <p:sp>
        <p:nvSpPr>
          <p:cNvPr id="7" name="Rectangle 6"/>
          <p:cNvSpPr/>
          <p:nvPr/>
        </p:nvSpPr>
        <p:spPr>
          <a:xfrm>
            <a:off x="365760" y="502920"/>
            <a:ext cx="109728" cy="868680"/>
          </a:xfrm>
          <a:prstGeom prst="rect">
            <a:avLst/>
          </a:prstGeom>
          <a:solidFill>
            <a:srgbClr val="00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502920"/>
            <a:ext cx="10972800" cy="320040"/>
          </a:xfrm>
          <a:prstGeom prst="rect">
            <a:avLst/>
          </a:prstGeom>
          <a:noFill/>
        </p:spPr>
        <p:txBody>
          <a:bodyPr wrap="square" lIns="0" rIns="0" tIns="0" bIns="0">
            <a:spAutoFit/>
          </a:bodyPr>
          <a:lstStyle/>
          <a:p>
            <a:pPr>
              <a:defRPr sz="1200" b="1">
                <a:solidFill>
                  <a:srgbClr val="00C8C8"/>
                </a:solidFill>
                <a:latin typeface="Calibri"/>
              </a:defRPr>
            </a:pPr>
            <a:r>
              <a:t>08  •  DEPLOYMENT</a:t>
            </a:r>
          </a:p>
        </p:txBody>
      </p:sp>
      <p:sp>
        <p:nvSpPr>
          <p:cNvPr id="9" name="TextBox 8"/>
          <p:cNvSpPr txBox="1"/>
          <p:nvPr/>
        </p:nvSpPr>
        <p:spPr>
          <a:xfrm>
            <a:off x="640080" y="777240"/>
            <a:ext cx="11430000" cy="685800"/>
          </a:xfrm>
          <a:prstGeom prst="rect">
            <a:avLst/>
          </a:prstGeom>
          <a:noFill/>
        </p:spPr>
        <p:txBody>
          <a:bodyPr wrap="square" lIns="0" rIns="0" tIns="0" bIns="0">
            <a:spAutoFit/>
          </a:bodyPr>
          <a:lstStyle/>
          <a:p>
            <a:pPr>
              <a:defRPr sz="3000" b="1">
                <a:solidFill>
                  <a:srgbClr val="0A1F3D"/>
                </a:solidFill>
                <a:latin typeface="Calibri"/>
              </a:defRPr>
            </a:pPr>
            <a:r>
              <a:t>Running on the ASAX supercomputer</a:t>
            </a:r>
          </a:p>
        </p:txBody>
      </p:sp>
      <p:sp>
        <p:nvSpPr>
          <p:cNvPr id="10" name="Rectangle 9"/>
          <p:cNvSpPr/>
          <p:nvPr/>
        </p:nvSpPr>
        <p:spPr>
          <a:xfrm>
            <a:off x="365760" y="1417320"/>
            <a:ext cx="11430000" cy="2286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1783080"/>
            <a:ext cx="6858000" cy="411480"/>
          </a:xfrm>
          <a:prstGeom prst="rect">
            <a:avLst/>
          </a:prstGeom>
          <a:noFill/>
        </p:spPr>
        <p:txBody>
          <a:bodyPr wrap="square" lIns="0" rIns="0" tIns="0" bIns="0">
            <a:spAutoFit/>
          </a:bodyPr>
          <a:lstStyle/>
          <a:p>
            <a:pPr>
              <a:defRPr sz="1800" b="1">
                <a:solidFill>
                  <a:srgbClr val="0A1F3D"/>
                </a:solidFill>
                <a:latin typeface="Calibri"/>
              </a:defRPr>
            </a:pPr>
            <a:r>
              <a:t>One shell script handles everything</a:t>
            </a:r>
          </a:p>
        </p:txBody>
      </p:sp>
      <p:sp>
        <p:nvSpPr>
          <p:cNvPr id="12" name="TextBox 11"/>
          <p:cNvSpPr txBox="1"/>
          <p:nvPr/>
        </p:nvSpPr>
        <p:spPr>
          <a:xfrm>
            <a:off x="640080" y="2377440"/>
            <a:ext cx="6858000" cy="3657600"/>
          </a:xfrm>
          <a:prstGeom prst="rect">
            <a:avLst/>
          </a:prstGeom>
          <a:noFill/>
        </p:spPr>
        <p:txBody>
          <a:bodyPr wrap="square">
            <a:spAutoFit/>
          </a:bodyPr>
          <a:lstStyle/>
          <a:p>
            <a:pPr>
              <a:spcAft>
                <a:spcPts val="1000"/>
              </a:spcAft>
            </a:pPr>
            <a:r>
              <a:rPr sz="1400" b="1">
                <a:solidFill>
                  <a:srgbClr val="00C8C8"/>
                </a:solidFill>
                <a:latin typeface="Calibri"/>
              </a:rPr>
              <a:t>▸  </a:t>
            </a:r>
            <a:r>
              <a:rPr sz="1400">
                <a:solidFill>
                  <a:srgbClr val="1A202C"/>
                </a:solidFill>
                <a:latin typeface="Calibri"/>
              </a:rPr>
              <a:t>Loads Python modules via 'module load python3'</a:t>
            </a:r>
          </a:p>
          <a:p>
            <a:pPr>
              <a:spcAft>
                <a:spcPts val="1000"/>
              </a:spcAft>
            </a:pPr>
            <a:r>
              <a:rPr sz="1400" b="1">
                <a:solidFill>
                  <a:srgbClr val="00C8C8"/>
                </a:solidFill>
                <a:latin typeface="Calibri"/>
              </a:rPr>
              <a:t>▸  </a:t>
            </a:r>
            <a:r>
              <a:rPr sz="1400">
                <a:solidFill>
                  <a:srgbClr val="1A202C"/>
                </a:solidFill>
                <a:latin typeface="Calibri"/>
              </a:rPr>
              <a:t>Installs dependencies (pandas, scikit-learn, matplotlib...)</a:t>
            </a:r>
          </a:p>
          <a:p>
            <a:pPr>
              <a:spcAft>
                <a:spcPts val="1000"/>
              </a:spcAft>
            </a:pPr>
            <a:r>
              <a:rPr sz="1400" b="1">
                <a:solidFill>
                  <a:srgbClr val="00C8C8"/>
                </a:solidFill>
                <a:latin typeface="Calibri"/>
              </a:rPr>
              <a:t>▸  </a:t>
            </a:r>
            <a:r>
              <a:rPr sz="1400">
                <a:solidFill>
                  <a:srgbClr val="1A202C"/>
                </a:solidFill>
                <a:latin typeface="Calibri"/>
              </a:rPr>
              <a:t>Auto-downloads IoT-23 dataset from Kaggle</a:t>
            </a:r>
          </a:p>
          <a:p>
            <a:pPr>
              <a:spcAft>
                <a:spcPts val="1000"/>
              </a:spcAft>
            </a:pPr>
            <a:r>
              <a:rPr sz="1400" b="1">
                <a:solidFill>
                  <a:srgbClr val="00C8C8"/>
                </a:solidFill>
                <a:latin typeface="Calibri"/>
              </a:rPr>
              <a:t>▸  </a:t>
            </a:r>
            <a:r>
              <a:rPr sz="1400">
                <a:solidFill>
                  <a:srgbClr val="1A202C"/>
                </a:solidFill>
                <a:latin typeface="Calibri"/>
              </a:rPr>
              <a:t>Combines 23 CSV files into a single dataset</a:t>
            </a:r>
          </a:p>
          <a:p>
            <a:pPr>
              <a:spcAft>
                <a:spcPts val="1000"/>
              </a:spcAft>
            </a:pPr>
            <a:r>
              <a:rPr sz="1400" b="1">
                <a:solidFill>
                  <a:srgbClr val="00C8C8"/>
                </a:solidFill>
                <a:latin typeface="Calibri"/>
              </a:rPr>
              <a:t>▸  </a:t>
            </a:r>
            <a:r>
              <a:rPr sz="1400">
                <a:solidFill>
                  <a:srgbClr val="1A202C"/>
                </a:solidFill>
                <a:latin typeface="Calibri"/>
              </a:rPr>
              <a:t>Runs the Python analysis pipeline</a:t>
            </a:r>
          </a:p>
          <a:p>
            <a:pPr>
              <a:spcAft>
                <a:spcPts val="1000"/>
              </a:spcAft>
            </a:pPr>
            <a:r>
              <a:rPr sz="1400" b="1">
                <a:solidFill>
                  <a:srgbClr val="00C8C8"/>
                </a:solidFill>
                <a:latin typeface="Calibri"/>
              </a:rPr>
              <a:t>▸  </a:t>
            </a:r>
            <a:r>
              <a:rPr sz="1400">
                <a:solidFill>
                  <a:srgbClr val="1A202C"/>
                </a:solidFill>
                <a:latin typeface="Calibri"/>
              </a:rPr>
              <a:t>Saves all charts and reports to results/ folder</a:t>
            </a:r>
          </a:p>
        </p:txBody>
      </p:sp>
      <p:sp>
        <p:nvSpPr>
          <p:cNvPr id="13" name="Rectangle 12"/>
          <p:cNvSpPr/>
          <p:nvPr/>
        </p:nvSpPr>
        <p:spPr>
          <a:xfrm>
            <a:off x="7680960" y="1783080"/>
            <a:ext cx="4114800" cy="1828800"/>
          </a:xfrm>
          <a:prstGeom prst="rect">
            <a:avLst/>
          </a:prstGeom>
          <a:solidFill>
            <a:srgbClr val="051226"/>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680960" y="1783080"/>
            <a:ext cx="4114800" cy="320040"/>
          </a:xfrm>
          <a:prstGeom prst="rect">
            <a:avLst/>
          </a:prstGeom>
          <a:solidFill>
            <a:srgbClr val="1E2B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818120" y="1801368"/>
            <a:ext cx="3657600" cy="274320"/>
          </a:xfrm>
          <a:prstGeom prst="rect">
            <a:avLst/>
          </a:prstGeom>
          <a:noFill/>
        </p:spPr>
        <p:txBody>
          <a:bodyPr wrap="square" lIns="0" rIns="0" tIns="0" bIns="0">
            <a:spAutoFit/>
          </a:bodyPr>
          <a:lstStyle/>
          <a:p>
            <a:pPr>
              <a:defRPr sz="1000" b="0">
                <a:solidFill>
                  <a:srgbClr val="9CA8B8"/>
                </a:solidFill>
                <a:latin typeface="Calibri"/>
              </a:defRPr>
            </a:pPr>
            <a:r>
              <a:t>● ● ●  asax terminal</a:t>
            </a:r>
          </a:p>
        </p:txBody>
      </p:sp>
      <p:sp>
        <p:nvSpPr>
          <p:cNvPr id="16" name="TextBox 15"/>
          <p:cNvSpPr txBox="1"/>
          <p:nvPr/>
        </p:nvSpPr>
        <p:spPr>
          <a:xfrm>
            <a:off x="7863840" y="2240280"/>
            <a:ext cx="3840480" cy="320040"/>
          </a:xfrm>
          <a:prstGeom prst="rect">
            <a:avLst/>
          </a:prstGeom>
          <a:noFill/>
        </p:spPr>
        <p:txBody>
          <a:bodyPr wrap="square" lIns="0" rIns="0" tIns="0" bIns="0">
            <a:spAutoFit/>
          </a:bodyPr>
          <a:lstStyle/>
          <a:p>
            <a:pPr>
              <a:defRPr sz="1100" b="0">
                <a:solidFill>
                  <a:srgbClr val="6B82A0"/>
                </a:solidFill>
                <a:latin typeface="Consolas"/>
              </a:defRPr>
            </a:pPr>
            <a:r>
              <a:t># submit as SLURM job</a:t>
            </a:r>
          </a:p>
        </p:txBody>
      </p:sp>
      <p:sp>
        <p:nvSpPr>
          <p:cNvPr id="17" name="TextBox 16"/>
          <p:cNvSpPr txBox="1"/>
          <p:nvPr/>
        </p:nvSpPr>
        <p:spPr>
          <a:xfrm>
            <a:off x="7863840" y="2542032"/>
            <a:ext cx="3840480" cy="365760"/>
          </a:xfrm>
          <a:prstGeom prst="rect">
            <a:avLst/>
          </a:prstGeom>
          <a:noFill/>
        </p:spPr>
        <p:txBody>
          <a:bodyPr wrap="square" lIns="0" rIns="0" tIns="0" bIns="0">
            <a:spAutoFit/>
          </a:bodyPr>
          <a:lstStyle/>
          <a:p>
            <a:pPr>
              <a:defRPr sz="1400" b="1">
                <a:solidFill>
                  <a:srgbClr val="00C8C8"/>
                </a:solidFill>
                <a:latin typeface="Consolas"/>
              </a:defRPr>
            </a:pPr>
            <a:r>
              <a:t>$ sbatch run_analysis.sh</a:t>
            </a:r>
          </a:p>
        </p:txBody>
      </p:sp>
      <p:sp>
        <p:nvSpPr>
          <p:cNvPr id="18" name="TextBox 17"/>
          <p:cNvSpPr txBox="1"/>
          <p:nvPr/>
        </p:nvSpPr>
        <p:spPr>
          <a:xfrm>
            <a:off x="7863840" y="2926080"/>
            <a:ext cx="3840480" cy="320040"/>
          </a:xfrm>
          <a:prstGeom prst="rect">
            <a:avLst/>
          </a:prstGeom>
          <a:noFill/>
        </p:spPr>
        <p:txBody>
          <a:bodyPr wrap="square" lIns="0" rIns="0" tIns="0" bIns="0">
            <a:spAutoFit/>
          </a:bodyPr>
          <a:lstStyle/>
          <a:p>
            <a:pPr>
              <a:defRPr sz="1100" b="0">
                <a:solidFill>
                  <a:srgbClr val="B8C4D6"/>
                </a:solidFill>
                <a:latin typeface="Consolas"/>
              </a:defRPr>
            </a:pPr>
            <a:r>
              <a:t>Submitted batch job 84291</a:t>
            </a:r>
          </a:p>
        </p:txBody>
      </p:sp>
      <p:sp>
        <p:nvSpPr>
          <p:cNvPr id="19" name="Rectangle 18"/>
          <p:cNvSpPr/>
          <p:nvPr/>
        </p:nvSpPr>
        <p:spPr>
          <a:xfrm>
            <a:off x="7680960" y="3794760"/>
            <a:ext cx="4114800" cy="1828800"/>
          </a:xfrm>
          <a:prstGeom prst="rect">
            <a:avLst/>
          </a:prstGeom>
          <a:solidFill>
            <a:srgbClr val="051226"/>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680960" y="3794760"/>
            <a:ext cx="4114800" cy="320040"/>
          </a:xfrm>
          <a:prstGeom prst="rect">
            <a:avLst/>
          </a:prstGeom>
          <a:solidFill>
            <a:srgbClr val="1E2B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818120" y="3813048"/>
            <a:ext cx="3657600" cy="274320"/>
          </a:xfrm>
          <a:prstGeom prst="rect">
            <a:avLst/>
          </a:prstGeom>
          <a:noFill/>
        </p:spPr>
        <p:txBody>
          <a:bodyPr wrap="square" lIns="0" rIns="0" tIns="0" bIns="0">
            <a:spAutoFit/>
          </a:bodyPr>
          <a:lstStyle/>
          <a:p>
            <a:pPr>
              <a:defRPr sz="1000" b="0">
                <a:solidFill>
                  <a:srgbClr val="9CA8B8"/>
                </a:solidFill>
                <a:latin typeface="Calibri"/>
              </a:defRPr>
            </a:pPr>
            <a:r>
              <a:t>● ● ●  local terminal</a:t>
            </a:r>
          </a:p>
        </p:txBody>
      </p:sp>
      <p:sp>
        <p:nvSpPr>
          <p:cNvPr id="22" name="TextBox 21"/>
          <p:cNvSpPr txBox="1"/>
          <p:nvPr/>
        </p:nvSpPr>
        <p:spPr>
          <a:xfrm>
            <a:off x="7863840" y="4251960"/>
            <a:ext cx="3840480" cy="320040"/>
          </a:xfrm>
          <a:prstGeom prst="rect">
            <a:avLst/>
          </a:prstGeom>
          <a:noFill/>
        </p:spPr>
        <p:txBody>
          <a:bodyPr wrap="square" lIns="0" rIns="0" tIns="0" bIns="0">
            <a:spAutoFit/>
          </a:bodyPr>
          <a:lstStyle/>
          <a:p>
            <a:pPr>
              <a:defRPr sz="1100" b="0">
                <a:solidFill>
                  <a:srgbClr val="6B82A0"/>
                </a:solidFill>
                <a:latin typeface="Consolas"/>
              </a:defRPr>
            </a:pPr>
            <a:r>
              <a:t># or run interactively</a:t>
            </a:r>
          </a:p>
        </p:txBody>
      </p:sp>
      <p:sp>
        <p:nvSpPr>
          <p:cNvPr id="23" name="TextBox 22"/>
          <p:cNvSpPr txBox="1"/>
          <p:nvPr/>
        </p:nvSpPr>
        <p:spPr>
          <a:xfrm>
            <a:off x="7863840" y="4553712"/>
            <a:ext cx="3840480" cy="365760"/>
          </a:xfrm>
          <a:prstGeom prst="rect">
            <a:avLst/>
          </a:prstGeom>
          <a:noFill/>
        </p:spPr>
        <p:txBody>
          <a:bodyPr wrap="square" lIns="0" rIns="0" tIns="0" bIns="0">
            <a:spAutoFit/>
          </a:bodyPr>
          <a:lstStyle/>
          <a:p>
            <a:pPr>
              <a:defRPr sz="1400" b="1">
                <a:solidFill>
                  <a:srgbClr val="00C8C8"/>
                </a:solidFill>
                <a:latin typeface="Consolas"/>
              </a:defRPr>
            </a:pPr>
            <a:r>
              <a:t>$ bash run_analysis.sh</a:t>
            </a:r>
          </a:p>
        </p:txBody>
      </p:sp>
      <p:sp>
        <p:nvSpPr>
          <p:cNvPr id="24" name="TextBox 23"/>
          <p:cNvSpPr txBox="1"/>
          <p:nvPr/>
        </p:nvSpPr>
        <p:spPr>
          <a:xfrm>
            <a:off x="7863840" y="4937760"/>
            <a:ext cx="3840480" cy="320040"/>
          </a:xfrm>
          <a:prstGeom prst="rect">
            <a:avLst/>
          </a:prstGeom>
          <a:noFill/>
        </p:spPr>
        <p:txBody>
          <a:bodyPr wrap="square" lIns="0" rIns="0" tIns="0" bIns="0">
            <a:spAutoFit/>
          </a:bodyPr>
          <a:lstStyle/>
          <a:p>
            <a:pPr>
              <a:defRPr sz="1100" b="0">
                <a:solidFill>
                  <a:srgbClr val="B8C4D6"/>
                </a:solidFill>
                <a:latin typeface="Consolas"/>
              </a:defRPr>
            </a:pPr>
            <a:r>
              <a:t>Accuracy: 0.9787  ✓</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512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09728"/>
          </a:xfrm>
          <a:prstGeom prst="rect">
            <a:avLst/>
          </a:prstGeom>
          <a:solidFill>
            <a:srgbClr val="00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446520"/>
            <a:ext cx="12188952" cy="411480"/>
          </a:xfrm>
          <a:prstGeom prst="rect">
            <a:avLst/>
          </a:prstGeom>
          <a:solidFill>
            <a:srgbClr val="0A1F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6519672"/>
            <a:ext cx="8229600" cy="292608"/>
          </a:xfrm>
          <a:prstGeom prst="rect">
            <a:avLst/>
          </a:prstGeom>
          <a:noFill/>
        </p:spPr>
        <p:txBody>
          <a:bodyPr wrap="square" lIns="0" rIns="0" tIns="0" bIns="0">
            <a:spAutoFit/>
          </a:bodyPr>
          <a:lstStyle/>
          <a:p>
            <a:pPr>
              <a:defRPr sz="1000" b="0">
                <a:solidFill>
                  <a:srgbClr val="FFFFFF"/>
                </a:solidFill>
                <a:latin typeface="Calibri"/>
              </a:defRPr>
            </a:pPr>
            <a:r>
              <a:t>IoT Botnet Detection  •  Linux Team Project  •  Alabama A&amp;M University</a:t>
            </a:r>
          </a:p>
        </p:txBody>
      </p:sp>
      <p:sp>
        <p:nvSpPr>
          <p:cNvPr id="6" name="TextBox 5"/>
          <p:cNvSpPr txBox="1"/>
          <p:nvPr/>
        </p:nvSpPr>
        <p:spPr>
          <a:xfrm>
            <a:off x="10972800" y="6519672"/>
            <a:ext cx="1097280" cy="292608"/>
          </a:xfrm>
          <a:prstGeom prst="rect">
            <a:avLst/>
          </a:prstGeom>
          <a:noFill/>
        </p:spPr>
        <p:txBody>
          <a:bodyPr wrap="square" lIns="0" rIns="0" tIns="0" bIns="0">
            <a:spAutoFit/>
          </a:bodyPr>
          <a:lstStyle/>
          <a:p>
            <a:pPr algn="r">
              <a:defRPr sz="1000" b="1">
                <a:solidFill>
                  <a:srgbClr val="00C8C8"/>
                </a:solidFill>
                <a:latin typeface="Calibri"/>
              </a:defRPr>
            </a:pPr>
            <a:r>
              <a:t>10 / 10</a:t>
            </a:r>
          </a:p>
        </p:txBody>
      </p:sp>
      <p:sp>
        <p:nvSpPr>
          <p:cNvPr id="7" name="Rectangle 6"/>
          <p:cNvSpPr/>
          <p:nvPr/>
        </p:nvSpPr>
        <p:spPr>
          <a:xfrm>
            <a:off x="365760" y="502920"/>
            <a:ext cx="109728" cy="868680"/>
          </a:xfrm>
          <a:prstGeom prst="rect">
            <a:avLst/>
          </a:prstGeom>
          <a:solidFill>
            <a:srgbClr val="00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502920"/>
            <a:ext cx="10972800" cy="320040"/>
          </a:xfrm>
          <a:prstGeom prst="rect">
            <a:avLst/>
          </a:prstGeom>
          <a:noFill/>
        </p:spPr>
        <p:txBody>
          <a:bodyPr wrap="square" lIns="0" rIns="0" tIns="0" bIns="0">
            <a:spAutoFit/>
          </a:bodyPr>
          <a:lstStyle/>
          <a:p>
            <a:pPr>
              <a:defRPr sz="1200" b="1">
                <a:solidFill>
                  <a:srgbClr val="00C8C8"/>
                </a:solidFill>
                <a:latin typeface="Calibri"/>
              </a:defRPr>
            </a:pPr>
            <a:r>
              <a:t>09  •  WRAP UP</a:t>
            </a:r>
          </a:p>
        </p:txBody>
      </p:sp>
      <p:sp>
        <p:nvSpPr>
          <p:cNvPr id="9" name="TextBox 8"/>
          <p:cNvSpPr txBox="1"/>
          <p:nvPr/>
        </p:nvSpPr>
        <p:spPr>
          <a:xfrm>
            <a:off x="640080" y="777240"/>
            <a:ext cx="11430000" cy="685800"/>
          </a:xfrm>
          <a:prstGeom prst="rect">
            <a:avLst/>
          </a:prstGeom>
          <a:noFill/>
        </p:spPr>
        <p:txBody>
          <a:bodyPr wrap="square" lIns="0" rIns="0" tIns="0" bIns="0">
            <a:spAutoFit/>
          </a:bodyPr>
          <a:lstStyle/>
          <a:p>
            <a:pPr>
              <a:defRPr sz="3000" b="1">
                <a:solidFill>
                  <a:srgbClr val="FFFFFF"/>
                </a:solidFill>
                <a:latin typeface="Calibri"/>
              </a:defRPr>
            </a:pPr>
            <a:r>
              <a:t>Conclusion &amp; Demo</a:t>
            </a:r>
          </a:p>
        </p:txBody>
      </p:sp>
      <p:sp>
        <p:nvSpPr>
          <p:cNvPr id="10" name="Rectangle 9"/>
          <p:cNvSpPr/>
          <p:nvPr/>
        </p:nvSpPr>
        <p:spPr>
          <a:xfrm>
            <a:off x="365760" y="1417320"/>
            <a:ext cx="11430000" cy="22860"/>
          </a:xfrm>
          <a:prstGeom prst="rect">
            <a:avLst/>
          </a:prstGeom>
          <a:solidFill>
            <a:srgbClr val="1E2B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1874519"/>
            <a:ext cx="3657600" cy="2194560"/>
          </a:xfrm>
          <a:prstGeom prst="rect">
            <a:avLst/>
          </a:prstGeom>
          <a:solidFill>
            <a:srgbClr val="0A1F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1874519"/>
            <a:ext cx="3657600" cy="73152"/>
          </a:xfrm>
          <a:prstGeom prst="rect">
            <a:avLst/>
          </a:prstGeom>
          <a:solidFill>
            <a:srgbClr val="00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2103120"/>
            <a:ext cx="3291840" cy="365760"/>
          </a:xfrm>
          <a:prstGeom prst="rect">
            <a:avLst/>
          </a:prstGeom>
          <a:noFill/>
        </p:spPr>
        <p:txBody>
          <a:bodyPr wrap="square" lIns="0" rIns="0" tIns="0" bIns="0">
            <a:spAutoFit/>
          </a:bodyPr>
          <a:lstStyle/>
          <a:p>
            <a:pPr>
              <a:defRPr sz="1100" b="1">
                <a:solidFill>
                  <a:srgbClr val="00C8C8"/>
                </a:solidFill>
                <a:latin typeface="Calibri"/>
              </a:defRPr>
            </a:pPr>
            <a:r>
              <a:t>ACCURACY</a:t>
            </a:r>
          </a:p>
        </p:txBody>
      </p:sp>
      <p:sp>
        <p:nvSpPr>
          <p:cNvPr id="14" name="TextBox 13"/>
          <p:cNvSpPr txBox="1"/>
          <p:nvPr/>
        </p:nvSpPr>
        <p:spPr>
          <a:xfrm>
            <a:off x="640080" y="2423160"/>
            <a:ext cx="3291840" cy="1005840"/>
          </a:xfrm>
          <a:prstGeom prst="rect">
            <a:avLst/>
          </a:prstGeom>
          <a:noFill/>
        </p:spPr>
        <p:txBody>
          <a:bodyPr wrap="square" lIns="0" rIns="0" tIns="0" bIns="0">
            <a:spAutoFit/>
          </a:bodyPr>
          <a:lstStyle/>
          <a:p>
            <a:pPr>
              <a:defRPr sz="4400" b="1">
                <a:solidFill>
                  <a:srgbClr val="FFFFFF"/>
                </a:solidFill>
                <a:latin typeface="Calibri"/>
              </a:defRPr>
            </a:pPr>
            <a:r>
              <a:t>97.87%</a:t>
            </a:r>
          </a:p>
        </p:txBody>
      </p:sp>
      <p:sp>
        <p:nvSpPr>
          <p:cNvPr id="15" name="TextBox 14"/>
          <p:cNvSpPr txBox="1"/>
          <p:nvPr/>
        </p:nvSpPr>
        <p:spPr>
          <a:xfrm>
            <a:off x="640080" y="3383279"/>
            <a:ext cx="3291840" cy="640080"/>
          </a:xfrm>
          <a:prstGeom prst="rect">
            <a:avLst/>
          </a:prstGeom>
          <a:noFill/>
        </p:spPr>
        <p:txBody>
          <a:bodyPr wrap="square" lIns="0" rIns="0" tIns="0" bIns="0">
            <a:spAutoFit/>
          </a:bodyPr>
          <a:lstStyle/>
          <a:p>
            <a:pPr>
              <a:defRPr sz="1200" b="0">
                <a:solidFill>
                  <a:srgbClr val="B8C4D6"/>
                </a:solidFill>
                <a:latin typeface="Calibri"/>
              </a:defRPr>
            </a:pPr>
            <a:r>
              <a:t>On 565K real test connections from real malware</a:t>
            </a:r>
          </a:p>
        </p:txBody>
      </p:sp>
      <p:sp>
        <p:nvSpPr>
          <p:cNvPr id="16" name="Rectangle 15"/>
          <p:cNvSpPr/>
          <p:nvPr/>
        </p:nvSpPr>
        <p:spPr>
          <a:xfrm>
            <a:off x="4343400" y="1874519"/>
            <a:ext cx="3657600" cy="2194560"/>
          </a:xfrm>
          <a:prstGeom prst="rect">
            <a:avLst/>
          </a:prstGeom>
          <a:solidFill>
            <a:srgbClr val="0A1F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43400" y="1874519"/>
            <a:ext cx="3657600" cy="73152"/>
          </a:xfrm>
          <a:prstGeom prst="rect">
            <a:avLst/>
          </a:prstGeom>
          <a:solidFill>
            <a:srgbClr val="00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26280" y="2103120"/>
            <a:ext cx="3291840" cy="365760"/>
          </a:xfrm>
          <a:prstGeom prst="rect">
            <a:avLst/>
          </a:prstGeom>
          <a:noFill/>
        </p:spPr>
        <p:txBody>
          <a:bodyPr wrap="square" lIns="0" rIns="0" tIns="0" bIns="0">
            <a:spAutoFit/>
          </a:bodyPr>
          <a:lstStyle/>
          <a:p>
            <a:pPr>
              <a:defRPr sz="1100" b="1">
                <a:solidFill>
                  <a:srgbClr val="00C8C8"/>
                </a:solidFill>
                <a:latin typeface="Calibri"/>
              </a:defRPr>
            </a:pPr>
            <a:r>
              <a:t>CONNECTIONS</a:t>
            </a:r>
          </a:p>
        </p:txBody>
      </p:sp>
      <p:sp>
        <p:nvSpPr>
          <p:cNvPr id="19" name="TextBox 18"/>
          <p:cNvSpPr txBox="1"/>
          <p:nvPr/>
        </p:nvSpPr>
        <p:spPr>
          <a:xfrm>
            <a:off x="4526280" y="2423160"/>
            <a:ext cx="3291840" cy="1005840"/>
          </a:xfrm>
          <a:prstGeom prst="rect">
            <a:avLst/>
          </a:prstGeom>
          <a:noFill/>
        </p:spPr>
        <p:txBody>
          <a:bodyPr wrap="square" lIns="0" rIns="0" tIns="0" bIns="0">
            <a:spAutoFit/>
          </a:bodyPr>
          <a:lstStyle/>
          <a:p>
            <a:pPr>
              <a:defRPr sz="4400" b="1">
                <a:solidFill>
                  <a:srgbClr val="FFFFFF"/>
                </a:solidFill>
                <a:latin typeface="Calibri"/>
              </a:defRPr>
            </a:pPr>
            <a:r>
              <a:t>1.88M</a:t>
            </a:r>
          </a:p>
        </p:txBody>
      </p:sp>
      <p:sp>
        <p:nvSpPr>
          <p:cNvPr id="20" name="TextBox 19"/>
          <p:cNvSpPr txBox="1"/>
          <p:nvPr/>
        </p:nvSpPr>
        <p:spPr>
          <a:xfrm>
            <a:off x="4526280" y="3383279"/>
            <a:ext cx="3291840" cy="640080"/>
          </a:xfrm>
          <a:prstGeom prst="rect">
            <a:avLst/>
          </a:prstGeom>
          <a:noFill/>
        </p:spPr>
        <p:txBody>
          <a:bodyPr wrap="square" lIns="0" rIns="0" tIns="0" bIns="0">
            <a:spAutoFit/>
          </a:bodyPr>
          <a:lstStyle/>
          <a:p>
            <a:pPr>
              <a:defRPr sz="1200" b="0">
                <a:solidFill>
                  <a:srgbClr val="B8C4D6"/>
                </a:solidFill>
                <a:latin typeface="Calibri"/>
              </a:defRPr>
            </a:pPr>
            <a:r>
              <a:t>Network flows analyzed end-to-end in under 30s</a:t>
            </a:r>
          </a:p>
        </p:txBody>
      </p:sp>
      <p:sp>
        <p:nvSpPr>
          <p:cNvPr id="21" name="Rectangle 20"/>
          <p:cNvSpPr/>
          <p:nvPr/>
        </p:nvSpPr>
        <p:spPr>
          <a:xfrm>
            <a:off x="8229600" y="1874519"/>
            <a:ext cx="3657600" cy="2194560"/>
          </a:xfrm>
          <a:prstGeom prst="rect">
            <a:avLst/>
          </a:prstGeom>
          <a:solidFill>
            <a:srgbClr val="0A1F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874519"/>
            <a:ext cx="3657600" cy="73152"/>
          </a:xfrm>
          <a:prstGeom prst="rect">
            <a:avLst/>
          </a:prstGeom>
          <a:solidFill>
            <a:srgbClr val="00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412480" y="2103120"/>
            <a:ext cx="3291840" cy="365760"/>
          </a:xfrm>
          <a:prstGeom prst="rect">
            <a:avLst/>
          </a:prstGeom>
          <a:noFill/>
        </p:spPr>
        <p:txBody>
          <a:bodyPr wrap="square" lIns="0" rIns="0" tIns="0" bIns="0">
            <a:spAutoFit/>
          </a:bodyPr>
          <a:lstStyle/>
          <a:p>
            <a:pPr>
              <a:defRPr sz="1100" b="1">
                <a:solidFill>
                  <a:srgbClr val="00C8C8"/>
                </a:solidFill>
                <a:latin typeface="Calibri"/>
              </a:defRPr>
            </a:pPr>
            <a:r>
              <a:t>AUTOMATED</a:t>
            </a:r>
          </a:p>
        </p:txBody>
      </p:sp>
      <p:sp>
        <p:nvSpPr>
          <p:cNvPr id="24" name="TextBox 23"/>
          <p:cNvSpPr txBox="1"/>
          <p:nvPr/>
        </p:nvSpPr>
        <p:spPr>
          <a:xfrm>
            <a:off x="8412480" y="2423160"/>
            <a:ext cx="3291840" cy="1005840"/>
          </a:xfrm>
          <a:prstGeom prst="rect">
            <a:avLst/>
          </a:prstGeom>
          <a:noFill/>
        </p:spPr>
        <p:txBody>
          <a:bodyPr wrap="square" lIns="0" rIns="0" tIns="0" bIns="0">
            <a:spAutoFit/>
          </a:bodyPr>
          <a:lstStyle/>
          <a:p>
            <a:pPr>
              <a:defRPr sz="4400" b="1">
                <a:solidFill>
                  <a:srgbClr val="FFFFFF"/>
                </a:solidFill>
                <a:latin typeface="Calibri"/>
              </a:defRPr>
            </a:pPr>
            <a:r>
              <a:t>100%</a:t>
            </a:r>
          </a:p>
        </p:txBody>
      </p:sp>
      <p:sp>
        <p:nvSpPr>
          <p:cNvPr id="25" name="TextBox 24"/>
          <p:cNvSpPr txBox="1"/>
          <p:nvPr/>
        </p:nvSpPr>
        <p:spPr>
          <a:xfrm>
            <a:off x="8412480" y="3383279"/>
            <a:ext cx="3291840" cy="640080"/>
          </a:xfrm>
          <a:prstGeom prst="rect">
            <a:avLst/>
          </a:prstGeom>
          <a:noFill/>
        </p:spPr>
        <p:txBody>
          <a:bodyPr wrap="square" lIns="0" rIns="0" tIns="0" bIns="0">
            <a:spAutoFit/>
          </a:bodyPr>
          <a:lstStyle/>
          <a:p>
            <a:pPr>
              <a:defRPr sz="1200" b="0">
                <a:solidFill>
                  <a:srgbClr val="B8C4D6"/>
                </a:solidFill>
                <a:latin typeface="Calibri"/>
              </a:defRPr>
            </a:pPr>
            <a:r>
              <a:t>Single shell command runs the entire pipeline</a:t>
            </a:r>
          </a:p>
        </p:txBody>
      </p:sp>
      <p:sp>
        <p:nvSpPr>
          <p:cNvPr id="26" name="TextBox 25"/>
          <p:cNvSpPr txBox="1"/>
          <p:nvPr/>
        </p:nvSpPr>
        <p:spPr>
          <a:xfrm>
            <a:off x="457200" y="4434840"/>
            <a:ext cx="11247120" cy="365760"/>
          </a:xfrm>
          <a:prstGeom prst="rect">
            <a:avLst/>
          </a:prstGeom>
          <a:noFill/>
        </p:spPr>
        <p:txBody>
          <a:bodyPr wrap="square" lIns="0" rIns="0" tIns="0" bIns="0">
            <a:spAutoFit/>
          </a:bodyPr>
          <a:lstStyle/>
          <a:p>
            <a:pPr algn="ctr">
              <a:defRPr sz="1200" b="1">
                <a:solidFill>
                  <a:srgbClr val="00C8C8"/>
                </a:solidFill>
                <a:latin typeface="Calibri"/>
              </a:defRPr>
            </a:pPr>
            <a:r>
              <a:t>WHY IT MATTERS</a:t>
            </a:r>
          </a:p>
        </p:txBody>
      </p:sp>
      <p:sp>
        <p:nvSpPr>
          <p:cNvPr id="27" name="TextBox 26"/>
          <p:cNvSpPr txBox="1"/>
          <p:nvPr/>
        </p:nvSpPr>
        <p:spPr>
          <a:xfrm>
            <a:off x="457200" y="4800600"/>
            <a:ext cx="11247120" cy="640080"/>
          </a:xfrm>
          <a:prstGeom prst="rect">
            <a:avLst/>
          </a:prstGeom>
          <a:noFill/>
        </p:spPr>
        <p:txBody>
          <a:bodyPr wrap="square" lIns="0" rIns="0" tIns="0" bIns="0">
            <a:spAutoFit/>
          </a:bodyPr>
          <a:lstStyle/>
          <a:p>
            <a:pPr algn="ctr">
              <a:defRPr sz="1800" b="0">
                <a:solidFill>
                  <a:srgbClr val="FFFFFF"/>
                </a:solidFill>
                <a:latin typeface="Calibri"/>
              </a:defRPr>
            </a:pPr>
            <a:r>
              <a:t>IoT security is one of the fastest growing threats in cybersecurity.</a:t>
            </a:r>
          </a:p>
        </p:txBody>
      </p:sp>
      <p:sp>
        <p:nvSpPr>
          <p:cNvPr id="28" name="TextBox 27"/>
          <p:cNvSpPr txBox="1"/>
          <p:nvPr/>
        </p:nvSpPr>
        <p:spPr>
          <a:xfrm>
            <a:off x="457200" y="5166360"/>
            <a:ext cx="11247120" cy="640080"/>
          </a:xfrm>
          <a:prstGeom prst="rect">
            <a:avLst/>
          </a:prstGeom>
          <a:noFill/>
        </p:spPr>
        <p:txBody>
          <a:bodyPr wrap="square" lIns="0" rIns="0" tIns="0" bIns="0">
            <a:spAutoFit/>
          </a:bodyPr>
          <a:lstStyle/>
          <a:p>
            <a:pPr algn="ctr">
              <a:defRPr sz="1800" b="0">
                <a:solidFill>
                  <a:srgbClr val="FFFFFF"/>
                </a:solidFill>
                <a:latin typeface="Calibri"/>
              </a:defRPr>
            </a:pPr>
            <a:r>
              <a:t>The same techniques shown here protect real networks from real attacks.</a:t>
            </a:r>
          </a:p>
        </p:txBody>
      </p:sp>
      <p:sp>
        <p:nvSpPr>
          <p:cNvPr id="29" name="Rectangle 28"/>
          <p:cNvSpPr/>
          <p:nvPr/>
        </p:nvSpPr>
        <p:spPr>
          <a:xfrm>
            <a:off x="2286000" y="5897880"/>
            <a:ext cx="7589520" cy="502920"/>
          </a:xfrm>
          <a:prstGeom prst="rect">
            <a:avLst/>
          </a:prstGeom>
          <a:solidFill>
            <a:srgbClr val="00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286000" y="5961888"/>
            <a:ext cx="7589520" cy="365760"/>
          </a:xfrm>
          <a:prstGeom prst="rect">
            <a:avLst/>
          </a:prstGeom>
          <a:noFill/>
        </p:spPr>
        <p:txBody>
          <a:bodyPr wrap="square" lIns="0" rIns="0" tIns="0" bIns="0">
            <a:spAutoFit/>
          </a:bodyPr>
          <a:lstStyle/>
          <a:p>
            <a:pPr algn="ctr">
              <a:defRPr sz="1400" b="1">
                <a:solidFill>
                  <a:srgbClr val="051226"/>
                </a:solidFill>
                <a:latin typeface="Calibri"/>
              </a:defRPr>
            </a:pPr>
            <a:r>
              <a:t>▸  LIVE DEMO    github.com/ibrahimt39/AAMU-Linux-Project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