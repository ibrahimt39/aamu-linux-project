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103120"/>
            <a:ext cx="11247120" cy="1371600"/>
          </a:xfrm>
          <a:prstGeom prst="rect">
            <a:avLst/>
          </a:prstGeom>
          <a:noFill/>
        </p:spPr>
        <p:txBody>
          <a:bodyPr wrap="none">
            <a:spAutoFit/>
          </a:bodyPr>
          <a:lstStyle/>
          <a:p>
            <a:pPr algn="ctr">
              <a:defRPr sz="4800" b="1">
                <a:solidFill>
                  <a:srgbClr val="0B2A4A"/>
                </a:solidFill>
              </a:defRPr>
            </a:pPr>
            <a:r>
              <a:t>Detecting IoT Botnet Attacks</a:t>
            </a:r>
          </a:p>
        </p:txBody>
      </p:sp>
      <p:sp>
        <p:nvSpPr>
          <p:cNvPr id="3" name="TextBox 2"/>
          <p:cNvSpPr txBox="1"/>
          <p:nvPr/>
        </p:nvSpPr>
        <p:spPr>
          <a:xfrm>
            <a:off x="457200" y="3291840"/>
            <a:ext cx="11247120" cy="548640"/>
          </a:xfrm>
          <a:prstGeom prst="rect">
            <a:avLst/>
          </a:prstGeom>
          <a:noFill/>
        </p:spPr>
        <p:txBody>
          <a:bodyPr wrap="square">
            <a:spAutoFit/>
          </a:bodyPr>
          <a:lstStyle/>
          <a:p>
            <a:pPr algn="ctr">
              <a:defRPr sz="2400" b="0">
                <a:solidFill>
                  <a:srgbClr val="555555"/>
                </a:solidFill>
              </a:defRPr>
            </a:pPr>
            <a:r>
              <a:t>A Machine Learning Approach Using the IoT-23 Dataset</a:t>
            </a:r>
          </a:p>
        </p:txBody>
      </p:sp>
      <p:sp>
        <p:nvSpPr>
          <p:cNvPr id="4" name="TextBox 3"/>
          <p:cNvSpPr txBox="1"/>
          <p:nvPr/>
        </p:nvSpPr>
        <p:spPr>
          <a:xfrm>
            <a:off x="457200" y="4114800"/>
            <a:ext cx="11247120" cy="457200"/>
          </a:xfrm>
          <a:prstGeom prst="rect">
            <a:avLst/>
          </a:prstGeom>
          <a:noFill/>
        </p:spPr>
        <p:txBody>
          <a:bodyPr wrap="square">
            <a:spAutoFit/>
          </a:bodyPr>
          <a:lstStyle/>
          <a:p>
            <a:pPr algn="ctr">
              <a:defRPr sz="1600" b="0">
                <a:solidFill>
                  <a:srgbClr val="555555"/>
                </a:solidFill>
              </a:defRPr>
            </a:pPr>
            <a:r>
              <a:t>Thabo Ibrahim Traore  •  Jordan Barnes  •  Zizwe Mtonga  •  Tapiwa Musinga</a:t>
            </a:r>
          </a:p>
        </p:txBody>
      </p:sp>
      <p:sp>
        <p:nvSpPr>
          <p:cNvPr id="5" name="TextBox 4"/>
          <p:cNvSpPr txBox="1"/>
          <p:nvPr/>
        </p:nvSpPr>
        <p:spPr>
          <a:xfrm>
            <a:off x="457200" y="5943600"/>
            <a:ext cx="11247120" cy="457200"/>
          </a:xfrm>
          <a:prstGeom prst="rect">
            <a:avLst/>
          </a:prstGeom>
          <a:noFill/>
        </p:spPr>
        <p:txBody>
          <a:bodyPr wrap="square">
            <a:spAutoFit/>
          </a:bodyPr>
          <a:lstStyle/>
          <a:p>
            <a:pPr algn="ctr">
              <a:defRPr sz="1400" b="0">
                <a:solidFill>
                  <a:srgbClr val="555555"/>
                </a:solidFill>
              </a:defRPr>
            </a:pPr>
            <a:r>
              <a:t>CS Linux Team Project — Alabama A&amp;M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none">
            <a:spAutoFit/>
          </a:bodyPr>
          <a:lstStyle/>
          <a:p>
            <a:pPr>
              <a:defRPr sz="3200" b="1">
                <a:solidFill>
                  <a:srgbClr val="0B2A4A"/>
                </a:solidFill>
              </a:defRPr>
            </a:pPr>
            <a:r>
              <a:t>Objective &amp; Problem Statement</a:t>
            </a:r>
          </a:p>
        </p:txBody>
      </p:sp>
      <p:sp>
        <p:nvSpPr>
          <p:cNvPr id="3" name="TextBox 2"/>
          <p:cNvSpPr txBox="1"/>
          <p:nvPr/>
        </p:nvSpPr>
        <p:spPr>
          <a:xfrm>
            <a:off x="457200" y="1280160"/>
            <a:ext cx="11247120" cy="457200"/>
          </a:xfrm>
          <a:prstGeom prst="rect">
            <a:avLst/>
          </a:prstGeom>
          <a:noFill/>
        </p:spPr>
        <p:txBody>
          <a:bodyPr wrap="square">
            <a:spAutoFit/>
          </a:bodyPr>
          <a:lstStyle/>
          <a:p>
            <a:pPr>
              <a:defRPr sz="2200" b="1">
                <a:solidFill>
                  <a:srgbClr val="0B2A4A"/>
                </a:solidFill>
              </a:defRPr>
            </a:pPr>
            <a:r>
              <a:t>The Problem</a:t>
            </a:r>
          </a:p>
        </p:txBody>
      </p:sp>
      <p:sp>
        <p:nvSpPr>
          <p:cNvPr id="4" name="TextBox 3"/>
          <p:cNvSpPr txBox="1"/>
          <p:nvPr/>
        </p:nvSpPr>
        <p:spPr>
          <a:xfrm>
            <a:off x="457200" y="1783080"/>
            <a:ext cx="11247120" cy="1371600"/>
          </a:xfrm>
          <a:prstGeom prst="rect">
            <a:avLst/>
          </a:prstGeom>
          <a:noFill/>
        </p:spPr>
        <p:txBody>
          <a:bodyPr wrap="square">
            <a:spAutoFit/>
          </a:bodyPr>
          <a:lstStyle/>
          <a:p>
            <a:pPr>
              <a:defRPr sz="1600" b="0">
                <a:solidFill>
                  <a:srgbClr val="555555"/>
                </a:solidFill>
              </a:defRPr>
            </a:pPr>
            <a:r>
              <a:t>IoT devices (cameras, routers, smart home gear) are easy targets for hackers. Once infected, they become part of botnets used to launch DDoS attacks, steal data, and spread further malware. Detecting these infections by hand is impossible at the scale of modern networks.</a:t>
            </a:r>
          </a:p>
        </p:txBody>
      </p:sp>
      <p:sp>
        <p:nvSpPr>
          <p:cNvPr id="5" name="TextBox 4"/>
          <p:cNvSpPr txBox="1"/>
          <p:nvPr/>
        </p:nvSpPr>
        <p:spPr>
          <a:xfrm>
            <a:off x="457200" y="3200400"/>
            <a:ext cx="11247120" cy="457200"/>
          </a:xfrm>
          <a:prstGeom prst="rect">
            <a:avLst/>
          </a:prstGeom>
          <a:noFill/>
        </p:spPr>
        <p:txBody>
          <a:bodyPr wrap="square">
            <a:spAutoFit/>
          </a:bodyPr>
          <a:lstStyle/>
          <a:p>
            <a:pPr>
              <a:defRPr sz="2200" b="1">
                <a:solidFill>
                  <a:srgbClr val="0B2A4A"/>
                </a:solidFill>
              </a:defRPr>
            </a:pPr>
            <a:r>
              <a:t>Our Goal</a:t>
            </a:r>
          </a:p>
        </p:txBody>
      </p:sp>
      <p:sp>
        <p:nvSpPr>
          <p:cNvPr id="6" name="TextBox 5"/>
          <p:cNvSpPr txBox="1"/>
          <p:nvPr/>
        </p:nvSpPr>
        <p:spPr>
          <a:xfrm>
            <a:off x="457200" y="3657600"/>
            <a:ext cx="11247120" cy="2743200"/>
          </a:xfrm>
          <a:prstGeom prst="rect">
            <a:avLst/>
          </a:prstGeom>
          <a:noFill/>
        </p:spPr>
        <p:txBody>
          <a:bodyPr wrap="square">
            <a:spAutoFit/>
          </a:bodyPr>
          <a:lstStyle/>
          <a:p>
            <a:pPr>
              <a:spcAft>
                <a:spcPts val="800"/>
              </a:spcAft>
              <a:defRPr sz="1600">
                <a:solidFill>
                  <a:srgbClr val="555555"/>
                </a:solidFill>
              </a:defRPr>
            </a:pPr>
            <a:r>
              <a:t>•  Build an automated system that classifies IoT network connections as benign or malicious</a:t>
            </a:r>
          </a:p>
          <a:p>
            <a:pPr>
              <a:spcAft>
                <a:spcPts val="800"/>
              </a:spcAft>
              <a:defRPr sz="1600">
                <a:solidFill>
                  <a:srgbClr val="555555"/>
                </a:solidFill>
              </a:defRPr>
            </a:pPr>
            <a:r>
              <a:t>•  Identify which features (bytes, packets, ports, etc.) most strongly indicate an attack</a:t>
            </a:r>
          </a:p>
          <a:p>
            <a:pPr>
              <a:spcAft>
                <a:spcPts val="800"/>
              </a:spcAft>
              <a:defRPr sz="1600">
                <a:solidFill>
                  <a:srgbClr val="555555"/>
                </a:solidFill>
              </a:defRPr>
            </a:pPr>
            <a:r>
              <a:t>•  Run the entire pipeline on the ASAX supercomputer using a Linux shell script</a:t>
            </a:r>
          </a:p>
          <a:p>
            <a:pPr>
              <a:spcAft>
                <a:spcPts val="800"/>
              </a:spcAft>
              <a:defRPr sz="1600">
                <a:solidFill>
                  <a:srgbClr val="555555"/>
                </a:solidFill>
              </a:defRPr>
            </a:pPr>
            <a:r>
              <a:t>•  Achieve high accuracy on real-world malware traffic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none">
            <a:spAutoFit/>
          </a:bodyPr>
          <a:lstStyle/>
          <a:p>
            <a:pPr>
              <a:defRPr sz="3200" b="1">
                <a:solidFill>
                  <a:srgbClr val="0B2A4A"/>
                </a:solidFill>
              </a:defRPr>
            </a:pPr>
            <a:r>
              <a:t>Dataset: IoT-23</a:t>
            </a:r>
          </a:p>
        </p:txBody>
      </p:sp>
      <p:sp>
        <p:nvSpPr>
          <p:cNvPr id="3" name="TextBox 2"/>
          <p:cNvSpPr txBox="1"/>
          <p:nvPr/>
        </p:nvSpPr>
        <p:spPr>
          <a:xfrm>
            <a:off x="457200" y="1280160"/>
            <a:ext cx="11247120" cy="457200"/>
          </a:xfrm>
          <a:prstGeom prst="rect">
            <a:avLst/>
          </a:prstGeom>
          <a:noFill/>
        </p:spPr>
        <p:txBody>
          <a:bodyPr wrap="square">
            <a:spAutoFit/>
          </a:bodyPr>
          <a:lstStyle/>
          <a:p>
            <a:pPr>
              <a:defRPr sz="1800" b="1">
                <a:solidFill>
                  <a:srgbClr val="0B2A4A"/>
                </a:solidFill>
              </a:defRPr>
            </a:pPr>
            <a:r>
              <a:t>Real network traffic from 23 IoT device infection scenarios</a:t>
            </a:r>
          </a:p>
        </p:txBody>
      </p:sp>
      <p:sp>
        <p:nvSpPr>
          <p:cNvPr id="4" name="TextBox 3"/>
          <p:cNvSpPr txBox="1"/>
          <p:nvPr/>
        </p:nvSpPr>
        <p:spPr>
          <a:xfrm>
            <a:off x="457200" y="1920240"/>
            <a:ext cx="11247120" cy="3657600"/>
          </a:xfrm>
          <a:prstGeom prst="rect">
            <a:avLst/>
          </a:prstGeom>
          <a:noFill/>
        </p:spPr>
        <p:txBody>
          <a:bodyPr wrap="square">
            <a:spAutoFit/>
          </a:bodyPr>
          <a:lstStyle/>
          <a:p>
            <a:pPr>
              <a:spcAft>
                <a:spcPts val="800"/>
              </a:spcAft>
              <a:defRPr sz="1600">
                <a:solidFill>
                  <a:srgbClr val="555555"/>
                </a:solidFill>
              </a:defRPr>
            </a:pPr>
            <a:r>
              <a:t>•  Source: Stratosphere Laboratory, Czech Technical University (CTU)</a:t>
            </a:r>
          </a:p>
          <a:p>
            <a:pPr>
              <a:spcAft>
                <a:spcPts val="800"/>
              </a:spcAft>
              <a:defRPr sz="1600">
                <a:solidFill>
                  <a:srgbClr val="555555"/>
                </a:solidFill>
              </a:defRPr>
            </a:pPr>
            <a:r>
              <a:t>•  1.88 million labeled network connections</a:t>
            </a:r>
          </a:p>
          <a:p>
            <a:pPr>
              <a:spcAft>
                <a:spcPts val="800"/>
              </a:spcAft>
              <a:defRPr sz="1600">
                <a:solidFill>
                  <a:srgbClr val="555555"/>
                </a:solidFill>
              </a:defRPr>
            </a:pPr>
            <a:r>
              <a:t>•  Captured from real malware infections — not simulated</a:t>
            </a:r>
          </a:p>
          <a:p>
            <a:pPr>
              <a:spcAft>
                <a:spcPts val="800"/>
              </a:spcAft>
              <a:defRPr sz="1600">
                <a:solidFill>
                  <a:srgbClr val="555555"/>
                </a:solidFill>
              </a:defRPr>
            </a:pPr>
            <a:r>
              <a:t>•  Includes Mirai, Torii, and Hajime botnet families</a:t>
            </a:r>
          </a:p>
          <a:p>
            <a:pPr>
              <a:spcAft>
                <a:spcPts val="800"/>
              </a:spcAft>
              <a:defRPr sz="1600">
                <a:solidFill>
                  <a:srgbClr val="555555"/>
                </a:solidFill>
              </a:defRPr>
            </a:pPr>
            <a:r>
              <a:t>•  23 capture scenarios + benign IoT device traffic</a:t>
            </a:r>
          </a:p>
          <a:p>
            <a:pPr>
              <a:spcAft>
                <a:spcPts val="800"/>
              </a:spcAft>
              <a:defRPr sz="1600">
                <a:solidFill>
                  <a:srgbClr val="555555"/>
                </a:solidFill>
              </a:defRPr>
            </a:pPr>
            <a:r>
              <a:t>•  Format: CSV files with 37 features per connection</a:t>
            </a:r>
          </a:p>
        </p:txBody>
      </p:sp>
      <p:sp>
        <p:nvSpPr>
          <p:cNvPr id="5" name="TextBox 4"/>
          <p:cNvSpPr txBox="1"/>
          <p:nvPr/>
        </p:nvSpPr>
        <p:spPr>
          <a:xfrm>
            <a:off x="457200" y="5852160"/>
            <a:ext cx="11247120" cy="457200"/>
          </a:xfrm>
          <a:prstGeom prst="rect">
            <a:avLst/>
          </a:prstGeom>
          <a:noFill/>
        </p:spPr>
        <p:txBody>
          <a:bodyPr wrap="square">
            <a:spAutoFit/>
          </a:bodyPr>
          <a:lstStyle/>
          <a:p>
            <a:pPr>
              <a:defRPr sz="1400" b="0">
                <a:solidFill>
                  <a:srgbClr val="555555"/>
                </a:solidFill>
              </a:defRPr>
            </a:pPr>
            <a:r>
              <a:t>Link:  https://www.stratosphereips.org/datasets-iot23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none">
            <a:spAutoFit/>
          </a:bodyPr>
          <a:lstStyle/>
          <a:p>
            <a:pPr>
              <a:defRPr sz="3200" b="1">
                <a:solidFill>
                  <a:srgbClr val="0B2A4A"/>
                </a:solidFill>
              </a:defRPr>
            </a:pPr>
            <a:r>
              <a:t>What We're Detecting</a:t>
            </a:r>
          </a:p>
        </p:txBody>
      </p:sp>
      <p:graphicFrame>
        <p:nvGraphicFramePr>
          <p:cNvPr id="3" name="Table 2"/>
          <p:cNvGraphicFramePr>
            <a:graphicFrameLocks noGrp="1"/>
          </p:cNvGraphicFramePr>
          <p:nvPr/>
        </p:nvGraphicFramePr>
        <p:xfrm>
          <a:off x="457200" y="1371600"/>
          <a:ext cx="11247120" cy="4114800"/>
        </p:xfrm>
        <a:graphic>
          <a:graphicData uri="http://schemas.openxmlformats.org/drawingml/2006/table">
            <a:tbl>
              <a:tblPr firstRow="1" bandRow="1">
                <a:tableStyleId>{5C22544A-7EE6-4342-B048-85BDC9FD1C3A}</a:tableStyleId>
              </a:tblPr>
              <a:tblGrid>
                <a:gridCol w="3749040"/>
                <a:gridCol w="3749040"/>
                <a:gridCol w="3749040"/>
              </a:tblGrid>
              <a:tr h="587828">
                <a:tc>
                  <a:txBody>
                    <a:bodyPr/>
                    <a:lstStyle/>
                    <a:p>
                      <a:pPr>
                        <a:defRPr b="1" sz="1600">
                          <a:solidFill>
                            <a:srgbClr val="FFFFFF"/>
                          </a:solidFill>
                        </a:defRPr>
                      </a:pPr>
                      <a:r>
                        <a:t>Category</a:t>
                      </a:r>
                    </a:p>
                  </a:txBody>
                  <a:tcPr>
                    <a:solidFill>
                      <a:srgbClr val="0B2A4A"/>
                    </a:solidFill>
                  </a:tcPr>
                </a:tc>
                <a:tc>
                  <a:txBody>
                    <a:bodyPr/>
                    <a:lstStyle/>
                    <a:p>
                      <a:pPr>
                        <a:defRPr b="1" sz="1600">
                          <a:solidFill>
                            <a:srgbClr val="FFFFFF"/>
                          </a:solidFill>
                        </a:defRPr>
                      </a:pPr>
                      <a:r>
                        <a:t>Connections</a:t>
                      </a:r>
                    </a:p>
                  </a:txBody>
                  <a:tcPr>
                    <a:solidFill>
                      <a:srgbClr val="0B2A4A"/>
                    </a:solidFill>
                  </a:tcPr>
                </a:tc>
                <a:tc>
                  <a:txBody>
                    <a:bodyPr/>
                    <a:lstStyle/>
                    <a:p>
                      <a:pPr>
                        <a:defRPr b="1" sz="1600">
                          <a:solidFill>
                            <a:srgbClr val="FFFFFF"/>
                          </a:solidFill>
                        </a:defRPr>
                      </a:pPr>
                      <a:r>
                        <a:t>Description</a:t>
                      </a:r>
                    </a:p>
                  </a:txBody>
                  <a:tcPr>
                    <a:solidFill>
                      <a:srgbClr val="0B2A4A"/>
                    </a:solidFill>
                  </a:tcPr>
                </a:tc>
              </a:tr>
              <a:tr h="587828">
                <a:tc>
                  <a:txBody>
                    <a:bodyPr/>
                    <a:lstStyle/>
                    <a:p>
                      <a:pPr>
                        <a:defRPr sz="1400">
                          <a:solidFill>
                            <a:srgbClr val="555555"/>
                          </a:solidFill>
                        </a:defRPr>
                      </a:pPr>
                      <a:r>
                        <a:t>Benign</a:t>
                      </a:r>
                    </a:p>
                  </a:txBody>
                  <a:tcPr/>
                </a:tc>
                <a:tc>
                  <a:txBody>
                    <a:bodyPr/>
                    <a:lstStyle/>
                    <a:p>
                      <a:pPr>
                        <a:defRPr sz="1400">
                          <a:solidFill>
                            <a:srgbClr val="555555"/>
                          </a:solidFill>
                        </a:defRPr>
                      </a:pPr>
                      <a:r>
                        <a:t>120,499</a:t>
                      </a:r>
                    </a:p>
                  </a:txBody>
                  <a:tcPr/>
                </a:tc>
                <a:tc>
                  <a:txBody>
                    <a:bodyPr/>
                    <a:lstStyle/>
                    <a:p>
                      <a:pPr>
                        <a:defRPr sz="1400">
                          <a:solidFill>
                            <a:srgbClr val="555555"/>
                          </a:solidFill>
                        </a:defRPr>
                      </a:pPr>
                      <a:r>
                        <a:t>Normal IoT device traffic</a:t>
                      </a:r>
                    </a:p>
                  </a:txBody>
                  <a:tcPr/>
                </a:tc>
              </a:tr>
              <a:tr h="587828">
                <a:tc>
                  <a:txBody>
                    <a:bodyPr/>
                    <a:lstStyle/>
                    <a:p>
                      <a:pPr>
                        <a:defRPr sz="1400">
                          <a:solidFill>
                            <a:srgbClr val="555555"/>
                          </a:solidFill>
                        </a:defRPr>
                      </a:pPr>
                      <a:r>
                        <a:t>DDoS</a:t>
                      </a:r>
                    </a:p>
                  </a:txBody>
                  <a:tcPr/>
                </a:tc>
                <a:tc>
                  <a:txBody>
                    <a:bodyPr/>
                    <a:lstStyle/>
                    <a:p>
                      <a:pPr>
                        <a:defRPr sz="1400">
                          <a:solidFill>
                            <a:srgbClr val="555555"/>
                          </a:solidFill>
                        </a:defRPr>
                      </a:pPr>
                      <a:r>
                        <a:t>1,643,228</a:t>
                      </a:r>
                    </a:p>
                  </a:txBody>
                  <a:tcPr/>
                </a:tc>
                <a:tc>
                  <a:txBody>
                    <a:bodyPr/>
                    <a:lstStyle/>
                    <a:p>
                      <a:pPr>
                        <a:defRPr sz="1400">
                          <a:solidFill>
                            <a:srgbClr val="555555"/>
                          </a:solidFill>
                        </a:defRPr>
                      </a:pPr>
                      <a:r>
                        <a:t>Distributed denial of service flood attacks</a:t>
                      </a:r>
                    </a:p>
                  </a:txBody>
                  <a:tcPr/>
                </a:tc>
              </a:tr>
              <a:tr h="587828">
                <a:tc>
                  <a:txBody>
                    <a:bodyPr/>
                    <a:lstStyle/>
                    <a:p>
                      <a:pPr>
                        <a:defRPr sz="1400">
                          <a:solidFill>
                            <a:srgbClr val="555555"/>
                          </a:solidFill>
                        </a:defRPr>
                      </a:pPr>
                      <a:r>
                        <a:t>PortScan</a:t>
                      </a:r>
                    </a:p>
                  </a:txBody>
                  <a:tcPr/>
                </a:tc>
                <a:tc>
                  <a:txBody>
                    <a:bodyPr/>
                    <a:lstStyle/>
                    <a:p>
                      <a:pPr>
                        <a:defRPr sz="1400">
                          <a:solidFill>
                            <a:srgbClr val="555555"/>
                          </a:solidFill>
                        </a:defRPr>
                      </a:pPr>
                      <a:r>
                        <a:t>74,139</a:t>
                      </a:r>
                    </a:p>
                  </a:txBody>
                  <a:tcPr/>
                </a:tc>
                <a:tc>
                  <a:txBody>
                    <a:bodyPr/>
                    <a:lstStyle/>
                    <a:p>
                      <a:pPr>
                        <a:defRPr sz="1400">
                          <a:solidFill>
                            <a:srgbClr val="555555"/>
                          </a:solidFill>
                        </a:defRPr>
                      </a:pPr>
                      <a:r>
                        <a:t>Scanning for open ports / vulnerable services</a:t>
                      </a:r>
                    </a:p>
                  </a:txBody>
                  <a:tcPr/>
                </a:tc>
              </a:tr>
              <a:tr h="587828">
                <a:tc>
                  <a:txBody>
                    <a:bodyPr/>
                    <a:lstStyle/>
                    <a:p>
                      <a:pPr>
                        <a:defRPr sz="1400">
                          <a:solidFill>
                            <a:srgbClr val="555555"/>
                          </a:solidFill>
                        </a:defRPr>
                      </a:pPr>
                      <a:r>
                        <a:t>C&amp;C</a:t>
                      </a:r>
                    </a:p>
                  </a:txBody>
                  <a:tcPr/>
                </a:tc>
                <a:tc>
                  <a:txBody>
                    <a:bodyPr/>
                    <a:lstStyle/>
                    <a:p>
                      <a:pPr>
                        <a:defRPr sz="1400">
                          <a:solidFill>
                            <a:srgbClr val="555555"/>
                          </a:solidFill>
                        </a:defRPr>
                      </a:pPr>
                      <a:r>
                        <a:t>22,502</a:t>
                      </a:r>
                    </a:p>
                  </a:txBody>
                  <a:tcPr/>
                </a:tc>
                <a:tc>
                  <a:txBody>
                    <a:bodyPr/>
                    <a:lstStyle/>
                    <a:p>
                      <a:pPr>
                        <a:defRPr sz="1400">
                          <a:solidFill>
                            <a:srgbClr val="555555"/>
                          </a:solidFill>
                        </a:defRPr>
                      </a:pPr>
                      <a:r>
                        <a:t>Command &amp; Control - infected device 'phones home'</a:t>
                      </a:r>
                    </a:p>
                  </a:txBody>
                  <a:tcPr/>
                </a:tc>
              </a:tr>
              <a:tr h="587828">
                <a:tc>
                  <a:txBody>
                    <a:bodyPr/>
                    <a:lstStyle/>
                    <a:p>
                      <a:pPr>
                        <a:defRPr sz="1400">
                          <a:solidFill>
                            <a:srgbClr val="555555"/>
                          </a:solidFill>
                        </a:defRPr>
                      </a:pPr>
                      <a:r>
                        <a:t>Botnet</a:t>
                      </a:r>
                    </a:p>
                  </a:txBody>
                  <a:tcPr/>
                </a:tc>
                <a:tc>
                  <a:txBody>
                    <a:bodyPr/>
                    <a:lstStyle/>
                    <a:p>
                      <a:pPr>
                        <a:defRPr sz="1400">
                          <a:solidFill>
                            <a:srgbClr val="555555"/>
                          </a:solidFill>
                        </a:defRPr>
                      </a:pPr>
                      <a:r>
                        <a:t>15,252</a:t>
                      </a:r>
                    </a:p>
                  </a:txBody>
                  <a:tcPr/>
                </a:tc>
                <a:tc>
                  <a:txBody>
                    <a:bodyPr/>
                    <a:lstStyle/>
                    <a:p>
                      <a:pPr>
                        <a:defRPr sz="1400">
                          <a:solidFill>
                            <a:srgbClr val="555555"/>
                          </a:solidFill>
                        </a:defRPr>
                      </a:pPr>
                      <a:r>
                        <a:t>Mirai/Okiru botnet propagation</a:t>
                      </a:r>
                    </a:p>
                  </a:txBody>
                  <a:tcPr/>
                </a:tc>
              </a:tr>
              <a:tr h="587832">
                <a:tc>
                  <a:txBody>
                    <a:bodyPr/>
                    <a:lstStyle/>
                    <a:p>
                      <a:pPr>
                        <a:defRPr sz="1400">
                          <a:solidFill>
                            <a:srgbClr val="555555"/>
                          </a:solidFill>
                        </a:defRPr>
                      </a:pPr>
                      <a:r>
                        <a:t>Attack</a:t>
                      </a:r>
                    </a:p>
                  </a:txBody>
                  <a:tcPr/>
                </a:tc>
                <a:tc>
                  <a:txBody>
                    <a:bodyPr/>
                    <a:lstStyle/>
                    <a:p>
                      <a:pPr>
                        <a:defRPr sz="1400">
                          <a:solidFill>
                            <a:srgbClr val="555555"/>
                          </a:solidFill>
                        </a:defRPr>
                      </a:pPr>
                      <a:r>
                        <a:t>9,366</a:t>
                      </a:r>
                    </a:p>
                  </a:txBody>
                  <a:tcPr/>
                </a:tc>
                <a:tc>
                  <a:txBody>
                    <a:bodyPr/>
                    <a:lstStyle/>
                    <a:p>
                      <a:pPr>
                        <a:defRPr sz="1400">
                          <a:solidFill>
                            <a:srgbClr val="555555"/>
                          </a:solidFill>
                        </a:defRPr>
                      </a:pPr>
                      <a:r>
                        <a:t>Other generic attacks</a:t>
                      </a:r>
                    </a:p>
                  </a:txBody>
                  <a:tcPr/>
                </a:tc>
              </a:tr>
            </a:tbl>
          </a:graphicData>
        </a:graphic>
      </p:graphicFrame>
      <p:sp>
        <p:nvSpPr>
          <p:cNvPr id="4" name="TextBox 3"/>
          <p:cNvSpPr txBox="1"/>
          <p:nvPr/>
        </p:nvSpPr>
        <p:spPr>
          <a:xfrm>
            <a:off x="457200" y="5852160"/>
            <a:ext cx="11247120" cy="457200"/>
          </a:xfrm>
          <a:prstGeom prst="rect">
            <a:avLst/>
          </a:prstGeom>
          <a:noFill/>
        </p:spPr>
        <p:txBody>
          <a:bodyPr wrap="square">
            <a:spAutoFit/>
          </a:bodyPr>
          <a:lstStyle/>
          <a:p>
            <a:pPr>
              <a:defRPr sz="1400" b="1">
                <a:solidFill>
                  <a:srgbClr val="C0392B"/>
                </a:solidFill>
              </a:defRPr>
            </a:pPr>
            <a:r>
              <a:t>Heavily imbalanced — 93.6% of traffic is malicious (mostly DDoS)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none">
            <a:spAutoFit/>
          </a:bodyPr>
          <a:lstStyle/>
          <a:p>
            <a:pPr>
              <a:defRPr sz="3200" b="1">
                <a:solidFill>
                  <a:srgbClr val="0B2A4A"/>
                </a:solidFill>
              </a:defRPr>
            </a:pPr>
            <a:r>
              <a:t>Methodology — The Pipeline</a:t>
            </a:r>
          </a:p>
        </p:txBody>
      </p:sp>
      <p:sp>
        <p:nvSpPr>
          <p:cNvPr id="3" name="TextBox 2"/>
          <p:cNvSpPr txBox="1"/>
          <p:nvPr/>
        </p:nvSpPr>
        <p:spPr>
          <a:xfrm>
            <a:off x="731520" y="1371600"/>
            <a:ext cx="2286000" cy="457200"/>
          </a:xfrm>
          <a:prstGeom prst="rect">
            <a:avLst/>
          </a:prstGeom>
          <a:noFill/>
        </p:spPr>
        <p:txBody>
          <a:bodyPr wrap="square">
            <a:spAutoFit/>
          </a:bodyPr>
          <a:lstStyle/>
          <a:p>
            <a:pPr>
              <a:defRPr sz="1800" b="1">
                <a:solidFill>
                  <a:srgbClr val="0B2A4A"/>
                </a:solidFill>
              </a:defRPr>
            </a:pPr>
            <a:r>
              <a:t>1.  Load</a:t>
            </a:r>
          </a:p>
        </p:txBody>
      </p:sp>
      <p:sp>
        <p:nvSpPr>
          <p:cNvPr id="4" name="TextBox 3"/>
          <p:cNvSpPr txBox="1"/>
          <p:nvPr/>
        </p:nvSpPr>
        <p:spPr>
          <a:xfrm>
            <a:off x="3108960" y="1371600"/>
            <a:ext cx="8686800" cy="457200"/>
          </a:xfrm>
          <a:prstGeom prst="rect">
            <a:avLst/>
          </a:prstGeom>
          <a:noFill/>
        </p:spPr>
        <p:txBody>
          <a:bodyPr wrap="square">
            <a:spAutoFit/>
          </a:bodyPr>
          <a:lstStyle/>
          <a:p>
            <a:pPr>
              <a:defRPr sz="1600" b="0">
                <a:solidFill>
                  <a:srgbClr val="555555"/>
                </a:solidFill>
              </a:defRPr>
            </a:pPr>
            <a:r>
              <a:t>Read 23 CSV files, combine into 1.88M-row dataset</a:t>
            </a:r>
          </a:p>
        </p:txBody>
      </p:sp>
      <p:sp>
        <p:nvSpPr>
          <p:cNvPr id="5" name="TextBox 4"/>
          <p:cNvSpPr txBox="1"/>
          <p:nvPr/>
        </p:nvSpPr>
        <p:spPr>
          <a:xfrm>
            <a:off x="731520" y="2011680"/>
            <a:ext cx="2286000" cy="457200"/>
          </a:xfrm>
          <a:prstGeom prst="rect">
            <a:avLst/>
          </a:prstGeom>
          <a:noFill/>
        </p:spPr>
        <p:txBody>
          <a:bodyPr wrap="square">
            <a:spAutoFit/>
          </a:bodyPr>
          <a:lstStyle/>
          <a:p>
            <a:pPr>
              <a:defRPr sz="1800" b="1">
                <a:solidFill>
                  <a:srgbClr val="0B2A4A"/>
                </a:solidFill>
              </a:defRPr>
            </a:pPr>
            <a:r>
              <a:t>2.  Preprocess</a:t>
            </a:r>
          </a:p>
        </p:txBody>
      </p:sp>
      <p:sp>
        <p:nvSpPr>
          <p:cNvPr id="6" name="TextBox 5"/>
          <p:cNvSpPr txBox="1"/>
          <p:nvPr/>
        </p:nvSpPr>
        <p:spPr>
          <a:xfrm>
            <a:off x="3108960" y="2011680"/>
            <a:ext cx="8686800" cy="457200"/>
          </a:xfrm>
          <a:prstGeom prst="rect">
            <a:avLst/>
          </a:prstGeom>
          <a:noFill/>
        </p:spPr>
        <p:txBody>
          <a:bodyPr wrap="square">
            <a:spAutoFit/>
          </a:bodyPr>
          <a:lstStyle/>
          <a:p>
            <a:pPr>
              <a:defRPr sz="1600" b="0">
                <a:solidFill>
                  <a:srgbClr val="555555"/>
                </a:solidFill>
              </a:defRPr>
            </a:pPr>
            <a:r>
              <a:t>Drop dead columns, fill missing values, encode labels</a:t>
            </a:r>
          </a:p>
        </p:txBody>
      </p:sp>
      <p:sp>
        <p:nvSpPr>
          <p:cNvPr id="7" name="TextBox 6"/>
          <p:cNvSpPr txBox="1"/>
          <p:nvPr/>
        </p:nvSpPr>
        <p:spPr>
          <a:xfrm>
            <a:off x="731520" y="2651760"/>
            <a:ext cx="2286000" cy="457200"/>
          </a:xfrm>
          <a:prstGeom prst="rect">
            <a:avLst/>
          </a:prstGeom>
          <a:noFill/>
        </p:spPr>
        <p:txBody>
          <a:bodyPr wrap="square">
            <a:spAutoFit/>
          </a:bodyPr>
          <a:lstStyle/>
          <a:p>
            <a:pPr>
              <a:defRPr sz="1800" b="1">
                <a:solidFill>
                  <a:srgbClr val="0B2A4A"/>
                </a:solidFill>
              </a:defRPr>
            </a:pPr>
            <a:r>
              <a:t>3.  Explore</a:t>
            </a:r>
          </a:p>
        </p:txBody>
      </p:sp>
      <p:sp>
        <p:nvSpPr>
          <p:cNvPr id="8" name="TextBox 7"/>
          <p:cNvSpPr txBox="1"/>
          <p:nvPr/>
        </p:nvSpPr>
        <p:spPr>
          <a:xfrm>
            <a:off x="3108960" y="2651760"/>
            <a:ext cx="8686800" cy="457200"/>
          </a:xfrm>
          <a:prstGeom prst="rect">
            <a:avLst/>
          </a:prstGeom>
          <a:noFill/>
        </p:spPr>
        <p:txBody>
          <a:bodyPr wrap="square">
            <a:spAutoFit/>
          </a:bodyPr>
          <a:lstStyle/>
          <a:p>
            <a:pPr>
              <a:defRPr sz="1600" b="0">
                <a:solidFill>
                  <a:srgbClr val="555555"/>
                </a:solidFill>
              </a:defRPr>
            </a:pPr>
            <a:r>
              <a:t>Generate distribution charts and protocol breakdowns</a:t>
            </a:r>
          </a:p>
        </p:txBody>
      </p:sp>
      <p:sp>
        <p:nvSpPr>
          <p:cNvPr id="9" name="TextBox 8"/>
          <p:cNvSpPr txBox="1"/>
          <p:nvPr/>
        </p:nvSpPr>
        <p:spPr>
          <a:xfrm>
            <a:off x="731520" y="3291839"/>
            <a:ext cx="2286000" cy="457200"/>
          </a:xfrm>
          <a:prstGeom prst="rect">
            <a:avLst/>
          </a:prstGeom>
          <a:noFill/>
        </p:spPr>
        <p:txBody>
          <a:bodyPr wrap="square">
            <a:spAutoFit/>
          </a:bodyPr>
          <a:lstStyle/>
          <a:p>
            <a:pPr>
              <a:defRPr sz="1800" b="1">
                <a:solidFill>
                  <a:srgbClr val="0B2A4A"/>
                </a:solidFill>
              </a:defRPr>
            </a:pPr>
            <a:r>
              <a:t>4.  Split</a:t>
            </a:r>
          </a:p>
        </p:txBody>
      </p:sp>
      <p:sp>
        <p:nvSpPr>
          <p:cNvPr id="10" name="TextBox 9"/>
          <p:cNvSpPr txBox="1"/>
          <p:nvPr/>
        </p:nvSpPr>
        <p:spPr>
          <a:xfrm>
            <a:off x="3108960" y="3291839"/>
            <a:ext cx="8686800" cy="457200"/>
          </a:xfrm>
          <a:prstGeom prst="rect">
            <a:avLst/>
          </a:prstGeom>
          <a:noFill/>
        </p:spPr>
        <p:txBody>
          <a:bodyPr wrap="square">
            <a:spAutoFit/>
          </a:bodyPr>
          <a:lstStyle/>
          <a:p>
            <a:pPr>
              <a:defRPr sz="1600" b="0">
                <a:solidFill>
                  <a:srgbClr val="555555"/>
                </a:solidFill>
              </a:defRPr>
            </a:pPr>
            <a:r>
              <a:t>70% training (1.32M rows) / 30% testing (565K rows)</a:t>
            </a:r>
          </a:p>
        </p:txBody>
      </p:sp>
      <p:sp>
        <p:nvSpPr>
          <p:cNvPr id="11" name="TextBox 10"/>
          <p:cNvSpPr txBox="1"/>
          <p:nvPr/>
        </p:nvSpPr>
        <p:spPr>
          <a:xfrm>
            <a:off x="731520" y="3931920"/>
            <a:ext cx="2286000" cy="457200"/>
          </a:xfrm>
          <a:prstGeom prst="rect">
            <a:avLst/>
          </a:prstGeom>
          <a:noFill/>
        </p:spPr>
        <p:txBody>
          <a:bodyPr wrap="square">
            <a:spAutoFit/>
          </a:bodyPr>
          <a:lstStyle/>
          <a:p>
            <a:pPr>
              <a:defRPr sz="1800" b="1">
                <a:solidFill>
                  <a:srgbClr val="0B2A4A"/>
                </a:solidFill>
              </a:defRPr>
            </a:pPr>
            <a:r>
              <a:t>5.  Train</a:t>
            </a:r>
          </a:p>
        </p:txBody>
      </p:sp>
      <p:sp>
        <p:nvSpPr>
          <p:cNvPr id="12" name="TextBox 11"/>
          <p:cNvSpPr txBox="1"/>
          <p:nvPr/>
        </p:nvSpPr>
        <p:spPr>
          <a:xfrm>
            <a:off x="3108960" y="3931920"/>
            <a:ext cx="8686800" cy="457200"/>
          </a:xfrm>
          <a:prstGeom prst="rect">
            <a:avLst/>
          </a:prstGeom>
          <a:noFill/>
        </p:spPr>
        <p:txBody>
          <a:bodyPr wrap="square">
            <a:spAutoFit/>
          </a:bodyPr>
          <a:lstStyle/>
          <a:p>
            <a:pPr>
              <a:defRPr sz="1600" b="0">
                <a:solidFill>
                  <a:srgbClr val="555555"/>
                </a:solidFill>
              </a:defRPr>
            </a:pPr>
            <a:r>
              <a:t>Random Forest classifier — 100 decision trees</a:t>
            </a:r>
          </a:p>
        </p:txBody>
      </p:sp>
      <p:sp>
        <p:nvSpPr>
          <p:cNvPr id="13" name="TextBox 12"/>
          <p:cNvSpPr txBox="1"/>
          <p:nvPr/>
        </p:nvSpPr>
        <p:spPr>
          <a:xfrm>
            <a:off x="731520" y="4572000"/>
            <a:ext cx="2286000" cy="457200"/>
          </a:xfrm>
          <a:prstGeom prst="rect">
            <a:avLst/>
          </a:prstGeom>
          <a:noFill/>
        </p:spPr>
        <p:txBody>
          <a:bodyPr wrap="square">
            <a:spAutoFit/>
          </a:bodyPr>
          <a:lstStyle/>
          <a:p>
            <a:pPr>
              <a:defRPr sz="1800" b="1">
                <a:solidFill>
                  <a:srgbClr val="0B2A4A"/>
                </a:solidFill>
              </a:defRPr>
            </a:pPr>
            <a:r>
              <a:t>6.  Evaluate</a:t>
            </a:r>
          </a:p>
        </p:txBody>
      </p:sp>
      <p:sp>
        <p:nvSpPr>
          <p:cNvPr id="14" name="TextBox 13"/>
          <p:cNvSpPr txBox="1"/>
          <p:nvPr/>
        </p:nvSpPr>
        <p:spPr>
          <a:xfrm>
            <a:off x="3108960" y="4572000"/>
            <a:ext cx="8686800" cy="457200"/>
          </a:xfrm>
          <a:prstGeom prst="rect">
            <a:avLst/>
          </a:prstGeom>
          <a:noFill/>
        </p:spPr>
        <p:txBody>
          <a:bodyPr wrap="square">
            <a:spAutoFit/>
          </a:bodyPr>
          <a:lstStyle/>
          <a:p>
            <a:pPr>
              <a:defRPr sz="1600" b="0">
                <a:solidFill>
                  <a:srgbClr val="555555"/>
                </a:solidFill>
              </a:defRPr>
            </a:pPr>
            <a:r>
              <a:t>Accuracy, precision, recall, confusion matrix</a:t>
            </a:r>
          </a:p>
        </p:txBody>
      </p:sp>
      <p:sp>
        <p:nvSpPr>
          <p:cNvPr id="15" name="TextBox 14"/>
          <p:cNvSpPr txBox="1"/>
          <p:nvPr/>
        </p:nvSpPr>
        <p:spPr>
          <a:xfrm>
            <a:off x="731520" y="5212079"/>
            <a:ext cx="2286000" cy="457200"/>
          </a:xfrm>
          <a:prstGeom prst="rect">
            <a:avLst/>
          </a:prstGeom>
          <a:noFill/>
        </p:spPr>
        <p:txBody>
          <a:bodyPr wrap="square">
            <a:spAutoFit/>
          </a:bodyPr>
          <a:lstStyle/>
          <a:p>
            <a:pPr>
              <a:defRPr sz="1800" b="1">
                <a:solidFill>
                  <a:srgbClr val="0B2A4A"/>
                </a:solidFill>
              </a:defRPr>
            </a:pPr>
            <a:r>
              <a:t>7.  Visualize</a:t>
            </a:r>
          </a:p>
        </p:txBody>
      </p:sp>
      <p:sp>
        <p:nvSpPr>
          <p:cNvPr id="16" name="TextBox 15"/>
          <p:cNvSpPr txBox="1"/>
          <p:nvPr/>
        </p:nvSpPr>
        <p:spPr>
          <a:xfrm>
            <a:off x="3108960" y="5212079"/>
            <a:ext cx="8686800" cy="457200"/>
          </a:xfrm>
          <a:prstGeom prst="rect">
            <a:avLst/>
          </a:prstGeom>
          <a:noFill/>
        </p:spPr>
        <p:txBody>
          <a:bodyPr wrap="square">
            <a:spAutoFit/>
          </a:bodyPr>
          <a:lstStyle/>
          <a:p>
            <a:pPr>
              <a:defRPr sz="1600" b="0">
                <a:solidFill>
                  <a:srgbClr val="555555"/>
                </a:solidFill>
              </a:defRPr>
            </a:pPr>
            <a:r>
              <a:t>Save all results as PNGs in results/ folder</a:t>
            </a:r>
          </a:p>
        </p:txBody>
      </p:sp>
      <p:sp>
        <p:nvSpPr>
          <p:cNvPr id="17" name="TextBox 16"/>
          <p:cNvSpPr txBox="1"/>
          <p:nvPr/>
        </p:nvSpPr>
        <p:spPr>
          <a:xfrm>
            <a:off x="457200" y="6126480"/>
            <a:ext cx="11247120" cy="365760"/>
          </a:xfrm>
          <a:prstGeom prst="rect">
            <a:avLst/>
          </a:prstGeom>
          <a:noFill/>
        </p:spPr>
        <p:txBody>
          <a:bodyPr wrap="square">
            <a:spAutoFit/>
          </a:bodyPr>
          <a:lstStyle/>
          <a:p>
            <a:pPr algn="ctr">
              <a:defRPr sz="1300" b="0">
                <a:solidFill>
                  <a:srgbClr val="555555"/>
                </a:solidFill>
              </a:defRPr>
            </a:pPr>
            <a:r>
              <a:t>Tools: Python 3 • pandas • scikit-learn • matplotlib • seaborn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none">
            <a:spAutoFit/>
          </a:bodyPr>
          <a:lstStyle/>
          <a:p>
            <a:pPr>
              <a:defRPr sz="3200" b="1">
                <a:solidFill>
                  <a:srgbClr val="0B2A4A"/>
                </a:solidFill>
              </a:defRPr>
            </a:pPr>
            <a:r>
              <a:t>Exploratory Data Analysis</a:t>
            </a:r>
          </a:p>
        </p:txBody>
      </p:sp>
      <p:pic>
        <p:nvPicPr>
          <p:cNvPr id="3" name="Picture 2" descr="attack_distribution.png"/>
          <p:cNvPicPr>
            <a:picLocks noChangeAspect="1"/>
          </p:cNvPicPr>
          <p:nvPr/>
        </p:nvPicPr>
        <p:blipFill>
          <a:blip r:embed="rId2"/>
          <a:stretch>
            <a:fillRect/>
          </a:stretch>
        </p:blipFill>
        <p:spPr>
          <a:xfrm>
            <a:off x="274320" y="1280160"/>
            <a:ext cx="8382000" cy="5029200"/>
          </a:xfrm>
          <a:prstGeom prst="rect">
            <a:avLst/>
          </a:prstGeom>
        </p:spPr>
      </p:pic>
      <p:pic>
        <p:nvPicPr>
          <p:cNvPr id="4" name="Picture 3" descr="benign_vs_malicious.png"/>
          <p:cNvPicPr>
            <a:picLocks noChangeAspect="1"/>
          </p:cNvPicPr>
          <p:nvPr/>
        </p:nvPicPr>
        <p:blipFill>
          <a:blip r:embed="rId3"/>
          <a:stretch>
            <a:fillRect/>
          </a:stretch>
        </p:blipFill>
        <p:spPr>
          <a:xfrm>
            <a:off x="6400800" y="1280160"/>
            <a:ext cx="5029200" cy="5029200"/>
          </a:xfrm>
          <a:prstGeom prst="rect">
            <a:avLst/>
          </a:prstGeom>
        </p:spPr>
      </p:pic>
      <p:sp>
        <p:nvSpPr>
          <p:cNvPr id="5" name="TextBox 4"/>
          <p:cNvSpPr txBox="1"/>
          <p:nvPr/>
        </p:nvSpPr>
        <p:spPr>
          <a:xfrm>
            <a:off x="457200" y="6309360"/>
            <a:ext cx="11247120" cy="365760"/>
          </a:xfrm>
          <a:prstGeom prst="rect">
            <a:avLst/>
          </a:prstGeom>
          <a:noFill/>
        </p:spPr>
        <p:txBody>
          <a:bodyPr wrap="square">
            <a:spAutoFit/>
          </a:bodyPr>
          <a:lstStyle/>
          <a:p>
            <a:pPr algn="ctr">
              <a:defRPr sz="1300" b="0">
                <a:solidFill>
                  <a:srgbClr val="555555"/>
                </a:solidFill>
              </a:defRPr>
            </a:pPr>
            <a:r>
              <a:t>Massive class imbalance — model must work hard to recognize benign traffic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none">
            <a:spAutoFit/>
          </a:bodyPr>
          <a:lstStyle/>
          <a:p>
            <a:pPr>
              <a:defRPr sz="3200" b="1">
                <a:solidFill>
                  <a:srgbClr val="0B2A4A"/>
                </a:solidFill>
              </a:defRPr>
            </a:pPr>
            <a:r>
              <a:t>Results — Random Forest Performance</a:t>
            </a:r>
          </a:p>
        </p:txBody>
      </p:sp>
      <p:pic>
        <p:nvPicPr>
          <p:cNvPr id="3" name="Picture 2" descr="confusion_matrix.png"/>
          <p:cNvPicPr>
            <a:picLocks noChangeAspect="1"/>
          </p:cNvPicPr>
          <p:nvPr/>
        </p:nvPicPr>
        <p:blipFill>
          <a:blip r:embed="rId2"/>
          <a:stretch>
            <a:fillRect/>
          </a:stretch>
        </p:blipFill>
        <p:spPr>
          <a:xfrm>
            <a:off x="274320" y="1280160"/>
            <a:ext cx="5334000" cy="4572000"/>
          </a:xfrm>
          <a:prstGeom prst="rect">
            <a:avLst/>
          </a:prstGeom>
        </p:spPr>
      </p:pic>
      <p:sp>
        <p:nvSpPr>
          <p:cNvPr id="4" name="TextBox 3"/>
          <p:cNvSpPr txBox="1"/>
          <p:nvPr/>
        </p:nvSpPr>
        <p:spPr>
          <a:xfrm>
            <a:off x="6400800" y="1371600"/>
            <a:ext cx="5486400" cy="457200"/>
          </a:xfrm>
          <a:prstGeom prst="rect">
            <a:avLst/>
          </a:prstGeom>
          <a:noFill/>
        </p:spPr>
        <p:txBody>
          <a:bodyPr wrap="square">
            <a:spAutoFit/>
          </a:bodyPr>
          <a:lstStyle/>
          <a:p>
            <a:pPr>
              <a:defRPr sz="2200" b="1">
                <a:solidFill>
                  <a:srgbClr val="0B2A4A"/>
                </a:solidFill>
              </a:defRPr>
            </a:pPr>
            <a:r>
              <a:t>Final Metrics</a:t>
            </a:r>
          </a:p>
        </p:txBody>
      </p:sp>
      <p:sp>
        <p:nvSpPr>
          <p:cNvPr id="5" name="TextBox 4"/>
          <p:cNvSpPr txBox="1"/>
          <p:nvPr/>
        </p:nvSpPr>
        <p:spPr>
          <a:xfrm>
            <a:off x="6400800" y="2103120"/>
            <a:ext cx="3200400" cy="365760"/>
          </a:xfrm>
          <a:prstGeom prst="rect">
            <a:avLst/>
          </a:prstGeom>
          <a:noFill/>
        </p:spPr>
        <p:txBody>
          <a:bodyPr wrap="square">
            <a:spAutoFit/>
          </a:bodyPr>
          <a:lstStyle/>
          <a:p>
            <a:pPr>
              <a:defRPr sz="1600" b="0">
                <a:solidFill>
                  <a:srgbClr val="555555"/>
                </a:solidFill>
              </a:defRPr>
            </a:pPr>
            <a:r>
              <a:t>Accuracy</a:t>
            </a:r>
          </a:p>
        </p:txBody>
      </p:sp>
      <p:sp>
        <p:nvSpPr>
          <p:cNvPr id="6" name="TextBox 5"/>
          <p:cNvSpPr txBox="1"/>
          <p:nvPr/>
        </p:nvSpPr>
        <p:spPr>
          <a:xfrm>
            <a:off x="9601200" y="2103120"/>
            <a:ext cx="2286000" cy="365760"/>
          </a:xfrm>
          <a:prstGeom prst="rect">
            <a:avLst/>
          </a:prstGeom>
          <a:noFill/>
        </p:spPr>
        <p:txBody>
          <a:bodyPr wrap="square">
            <a:spAutoFit/>
          </a:bodyPr>
          <a:lstStyle/>
          <a:p>
            <a:pPr>
              <a:defRPr sz="1600" b="1">
                <a:solidFill>
                  <a:srgbClr val="0B2A4A"/>
                </a:solidFill>
              </a:defRPr>
            </a:pPr>
            <a:r>
              <a:t>97.87%</a:t>
            </a:r>
          </a:p>
        </p:txBody>
      </p:sp>
      <p:sp>
        <p:nvSpPr>
          <p:cNvPr id="7" name="TextBox 6"/>
          <p:cNvSpPr txBox="1"/>
          <p:nvPr/>
        </p:nvSpPr>
        <p:spPr>
          <a:xfrm>
            <a:off x="6400800" y="2606039"/>
            <a:ext cx="3200400" cy="365760"/>
          </a:xfrm>
          <a:prstGeom prst="rect">
            <a:avLst/>
          </a:prstGeom>
          <a:noFill/>
        </p:spPr>
        <p:txBody>
          <a:bodyPr wrap="square">
            <a:spAutoFit/>
          </a:bodyPr>
          <a:lstStyle/>
          <a:p>
            <a:pPr>
              <a:defRPr sz="1600" b="0">
                <a:solidFill>
                  <a:srgbClr val="555555"/>
                </a:solidFill>
              </a:defRPr>
            </a:pPr>
            <a:r>
              <a:t>Benign F1</a:t>
            </a:r>
          </a:p>
        </p:txBody>
      </p:sp>
      <p:sp>
        <p:nvSpPr>
          <p:cNvPr id="8" name="TextBox 7"/>
          <p:cNvSpPr txBox="1"/>
          <p:nvPr/>
        </p:nvSpPr>
        <p:spPr>
          <a:xfrm>
            <a:off x="9601200" y="2606039"/>
            <a:ext cx="2286000" cy="365760"/>
          </a:xfrm>
          <a:prstGeom prst="rect">
            <a:avLst/>
          </a:prstGeom>
          <a:noFill/>
        </p:spPr>
        <p:txBody>
          <a:bodyPr wrap="square">
            <a:spAutoFit/>
          </a:bodyPr>
          <a:lstStyle/>
          <a:p>
            <a:pPr>
              <a:defRPr sz="1600" b="1">
                <a:solidFill>
                  <a:srgbClr val="0B2A4A"/>
                </a:solidFill>
              </a:defRPr>
            </a:pPr>
            <a:r>
              <a:t>0.83</a:t>
            </a:r>
          </a:p>
        </p:txBody>
      </p:sp>
      <p:sp>
        <p:nvSpPr>
          <p:cNvPr id="9" name="TextBox 8"/>
          <p:cNvSpPr txBox="1"/>
          <p:nvPr/>
        </p:nvSpPr>
        <p:spPr>
          <a:xfrm>
            <a:off x="6400800" y="3108960"/>
            <a:ext cx="3200400" cy="365760"/>
          </a:xfrm>
          <a:prstGeom prst="rect">
            <a:avLst/>
          </a:prstGeom>
          <a:noFill/>
        </p:spPr>
        <p:txBody>
          <a:bodyPr wrap="square">
            <a:spAutoFit/>
          </a:bodyPr>
          <a:lstStyle/>
          <a:p>
            <a:pPr>
              <a:defRPr sz="1600" b="0">
                <a:solidFill>
                  <a:srgbClr val="555555"/>
                </a:solidFill>
              </a:defRPr>
            </a:pPr>
            <a:r>
              <a:t>Malicious F1</a:t>
            </a:r>
          </a:p>
        </p:txBody>
      </p:sp>
      <p:sp>
        <p:nvSpPr>
          <p:cNvPr id="10" name="TextBox 9"/>
          <p:cNvSpPr txBox="1"/>
          <p:nvPr/>
        </p:nvSpPr>
        <p:spPr>
          <a:xfrm>
            <a:off x="9601200" y="3108960"/>
            <a:ext cx="2286000" cy="365760"/>
          </a:xfrm>
          <a:prstGeom prst="rect">
            <a:avLst/>
          </a:prstGeom>
          <a:noFill/>
        </p:spPr>
        <p:txBody>
          <a:bodyPr wrap="square">
            <a:spAutoFit/>
          </a:bodyPr>
          <a:lstStyle/>
          <a:p>
            <a:pPr>
              <a:defRPr sz="1600" b="1">
                <a:solidFill>
                  <a:srgbClr val="0B2A4A"/>
                </a:solidFill>
              </a:defRPr>
            </a:pPr>
            <a:r>
              <a:t>0.99</a:t>
            </a:r>
          </a:p>
        </p:txBody>
      </p:sp>
      <p:sp>
        <p:nvSpPr>
          <p:cNvPr id="11" name="TextBox 10"/>
          <p:cNvSpPr txBox="1"/>
          <p:nvPr/>
        </p:nvSpPr>
        <p:spPr>
          <a:xfrm>
            <a:off x="6400800" y="3611880"/>
            <a:ext cx="3200400" cy="365760"/>
          </a:xfrm>
          <a:prstGeom prst="rect">
            <a:avLst/>
          </a:prstGeom>
          <a:noFill/>
        </p:spPr>
        <p:txBody>
          <a:bodyPr wrap="square">
            <a:spAutoFit/>
          </a:bodyPr>
          <a:lstStyle/>
          <a:p>
            <a:pPr>
              <a:defRPr sz="1600" b="0">
                <a:solidFill>
                  <a:srgbClr val="555555"/>
                </a:solidFill>
              </a:defRPr>
            </a:pPr>
            <a:r>
              <a:t>Training Time</a:t>
            </a:r>
          </a:p>
        </p:txBody>
      </p:sp>
      <p:sp>
        <p:nvSpPr>
          <p:cNvPr id="12" name="TextBox 11"/>
          <p:cNvSpPr txBox="1"/>
          <p:nvPr/>
        </p:nvSpPr>
        <p:spPr>
          <a:xfrm>
            <a:off x="9601200" y="3611880"/>
            <a:ext cx="2286000" cy="365760"/>
          </a:xfrm>
          <a:prstGeom prst="rect">
            <a:avLst/>
          </a:prstGeom>
          <a:noFill/>
        </p:spPr>
        <p:txBody>
          <a:bodyPr wrap="square">
            <a:spAutoFit/>
          </a:bodyPr>
          <a:lstStyle/>
          <a:p>
            <a:pPr>
              <a:defRPr sz="1600" b="1">
                <a:solidFill>
                  <a:srgbClr val="0B2A4A"/>
                </a:solidFill>
              </a:defRPr>
            </a:pPr>
            <a:r>
              <a:t>23.4s</a:t>
            </a:r>
          </a:p>
        </p:txBody>
      </p:sp>
      <p:sp>
        <p:nvSpPr>
          <p:cNvPr id="13" name="TextBox 12"/>
          <p:cNvSpPr txBox="1"/>
          <p:nvPr/>
        </p:nvSpPr>
        <p:spPr>
          <a:xfrm>
            <a:off x="6400800" y="4114800"/>
            <a:ext cx="3200400" cy="365760"/>
          </a:xfrm>
          <a:prstGeom prst="rect">
            <a:avLst/>
          </a:prstGeom>
          <a:noFill/>
        </p:spPr>
        <p:txBody>
          <a:bodyPr wrap="square">
            <a:spAutoFit/>
          </a:bodyPr>
          <a:lstStyle/>
          <a:p>
            <a:pPr>
              <a:defRPr sz="1600" b="0">
                <a:solidFill>
                  <a:srgbClr val="555555"/>
                </a:solidFill>
              </a:defRPr>
            </a:pPr>
            <a:r>
              <a:t>Prediction Time</a:t>
            </a:r>
          </a:p>
        </p:txBody>
      </p:sp>
      <p:sp>
        <p:nvSpPr>
          <p:cNvPr id="14" name="TextBox 13"/>
          <p:cNvSpPr txBox="1"/>
          <p:nvPr/>
        </p:nvSpPr>
        <p:spPr>
          <a:xfrm>
            <a:off x="9601200" y="4114800"/>
            <a:ext cx="2286000" cy="365760"/>
          </a:xfrm>
          <a:prstGeom prst="rect">
            <a:avLst/>
          </a:prstGeom>
          <a:noFill/>
        </p:spPr>
        <p:txBody>
          <a:bodyPr wrap="square">
            <a:spAutoFit/>
          </a:bodyPr>
          <a:lstStyle/>
          <a:p>
            <a:pPr>
              <a:defRPr sz="1600" b="1">
                <a:solidFill>
                  <a:srgbClr val="0B2A4A"/>
                </a:solidFill>
              </a:defRPr>
            </a:pPr>
            <a:r>
              <a:t>0.7s</a:t>
            </a:r>
          </a:p>
        </p:txBody>
      </p:sp>
      <p:sp>
        <p:nvSpPr>
          <p:cNvPr id="15" name="TextBox 14"/>
          <p:cNvSpPr txBox="1"/>
          <p:nvPr/>
        </p:nvSpPr>
        <p:spPr>
          <a:xfrm>
            <a:off x="6400800" y="4617720"/>
            <a:ext cx="3200400" cy="365760"/>
          </a:xfrm>
          <a:prstGeom prst="rect">
            <a:avLst/>
          </a:prstGeom>
          <a:noFill/>
        </p:spPr>
        <p:txBody>
          <a:bodyPr wrap="square">
            <a:spAutoFit/>
          </a:bodyPr>
          <a:lstStyle/>
          <a:p>
            <a:pPr>
              <a:defRPr sz="1600" b="0">
                <a:solidFill>
                  <a:srgbClr val="555555"/>
                </a:solidFill>
              </a:defRPr>
            </a:pPr>
            <a:r>
              <a:t>Test Samples</a:t>
            </a:r>
          </a:p>
        </p:txBody>
      </p:sp>
      <p:sp>
        <p:nvSpPr>
          <p:cNvPr id="16" name="TextBox 15"/>
          <p:cNvSpPr txBox="1"/>
          <p:nvPr/>
        </p:nvSpPr>
        <p:spPr>
          <a:xfrm>
            <a:off x="9601200" y="4617720"/>
            <a:ext cx="2286000" cy="365760"/>
          </a:xfrm>
          <a:prstGeom prst="rect">
            <a:avLst/>
          </a:prstGeom>
          <a:noFill/>
        </p:spPr>
        <p:txBody>
          <a:bodyPr wrap="square">
            <a:spAutoFit/>
          </a:bodyPr>
          <a:lstStyle/>
          <a:p>
            <a:pPr>
              <a:defRPr sz="1600" b="1">
                <a:solidFill>
                  <a:srgbClr val="0B2A4A"/>
                </a:solidFill>
              </a:defRPr>
            </a:pPr>
            <a:r>
              <a:t>565,502</a:t>
            </a:r>
          </a:p>
        </p:txBody>
      </p:sp>
      <p:sp>
        <p:nvSpPr>
          <p:cNvPr id="17" name="TextBox 16"/>
          <p:cNvSpPr txBox="1"/>
          <p:nvPr/>
        </p:nvSpPr>
        <p:spPr>
          <a:xfrm>
            <a:off x="274320" y="6035040"/>
            <a:ext cx="11612880" cy="365760"/>
          </a:xfrm>
          <a:prstGeom prst="rect">
            <a:avLst/>
          </a:prstGeom>
          <a:noFill/>
        </p:spPr>
        <p:txBody>
          <a:bodyPr wrap="square">
            <a:spAutoFit/>
          </a:bodyPr>
          <a:lstStyle/>
          <a:p>
            <a:pPr algn="ctr">
              <a:defRPr sz="1400" b="1">
                <a:solidFill>
                  <a:srgbClr val="C0392B"/>
                </a:solidFill>
              </a:defRPr>
            </a:pPr>
            <a:r>
              <a:t>97.87% of all 565,502 test connections classified correctly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none">
            <a:spAutoFit/>
          </a:bodyPr>
          <a:lstStyle/>
          <a:p>
            <a:pPr>
              <a:defRPr sz="3200" b="1">
                <a:solidFill>
                  <a:srgbClr val="0B2A4A"/>
                </a:solidFill>
              </a:defRPr>
            </a:pPr>
            <a:r>
              <a:t>Which Features Matter Most?</a:t>
            </a:r>
          </a:p>
        </p:txBody>
      </p:sp>
      <p:pic>
        <p:nvPicPr>
          <p:cNvPr id="3" name="Picture 2" descr="feature_importances.png"/>
          <p:cNvPicPr>
            <a:picLocks noChangeAspect="1"/>
          </p:cNvPicPr>
          <p:nvPr/>
        </p:nvPicPr>
        <p:blipFill>
          <a:blip r:embed="rId2"/>
          <a:stretch>
            <a:fillRect/>
          </a:stretch>
        </p:blipFill>
        <p:spPr>
          <a:xfrm>
            <a:off x="274320" y="1280160"/>
            <a:ext cx="7184571" cy="5029200"/>
          </a:xfrm>
          <a:prstGeom prst="rect">
            <a:avLst/>
          </a:prstGeom>
        </p:spPr>
      </p:pic>
      <p:sp>
        <p:nvSpPr>
          <p:cNvPr id="4" name="TextBox 3"/>
          <p:cNvSpPr txBox="1"/>
          <p:nvPr/>
        </p:nvSpPr>
        <p:spPr>
          <a:xfrm>
            <a:off x="6858000" y="1463040"/>
            <a:ext cx="5029200" cy="457200"/>
          </a:xfrm>
          <a:prstGeom prst="rect">
            <a:avLst/>
          </a:prstGeom>
          <a:noFill/>
        </p:spPr>
        <p:txBody>
          <a:bodyPr wrap="square">
            <a:spAutoFit/>
          </a:bodyPr>
          <a:lstStyle/>
          <a:p>
            <a:pPr>
              <a:defRPr sz="2200" b="1">
                <a:solidFill>
                  <a:srgbClr val="0B2A4A"/>
                </a:solidFill>
              </a:defRPr>
            </a:pPr>
            <a:r>
              <a:t>Key Insight</a:t>
            </a:r>
          </a:p>
        </p:txBody>
      </p:sp>
      <p:sp>
        <p:nvSpPr>
          <p:cNvPr id="5" name="TextBox 4"/>
          <p:cNvSpPr txBox="1"/>
          <p:nvPr/>
        </p:nvSpPr>
        <p:spPr>
          <a:xfrm>
            <a:off x="6858000" y="2103120"/>
            <a:ext cx="5029200" cy="3657600"/>
          </a:xfrm>
          <a:prstGeom prst="rect">
            <a:avLst/>
          </a:prstGeom>
          <a:noFill/>
        </p:spPr>
        <p:txBody>
          <a:bodyPr wrap="square">
            <a:spAutoFit/>
          </a:bodyPr>
          <a:lstStyle/>
          <a:p>
            <a:pPr>
              <a:defRPr sz="1500" b="0">
                <a:solidFill>
                  <a:srgbClr val="555555"/>
                </a:solidFill>
              </a:defRPr>
            </a:pPr>
            <a:r>
              <a:t>The model learned that traffic volume features (orig_pkts, orig_ip_bytes, resp_bytes) are the strongest indicators of an attack.</a:t>
            </a:r>
          </a:p>
          <a:p>
            <a:pPr>
              <a:defRPr sz="1500" b="0">
                <a:solidFill>
                  <a:srgbClr val="555555"/>
                </a:solidFill>
              </a:defRPr>
            </a:pPr>
          </a:p>
          <a:p>
            <a:pPr>
              <a:defRPr sz="1500" b="0">
                <a:solidFill>
                  <a:srgbClr val="555555"/>
                </a:solidFill>
              </a:defRPr>
            </a:pPr>
            <a:r>
              <a:t>This matches real-world intuition: DDoS and port-scan attacks send unusual volumes of small packets, while C&amp;C traffic shows distinctive byte patterns.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none">
            <a:spAutoFit/>
          </a:bodyPr>
          <a:lstStyle/>
          <a:p>
            <a:pPr>
              <a:defRPr sz="3200" b="1">
                <a:solidFill>
                  <a:srgbClr val="0B2A4A"/>
                </a:solidFill>
              </a:defRPr>
            </a:pPr>
            <a:r>
              <a:t>Running on ASAX Supercomputer</a:t>
            </a:r>
          </a:p>
        </p:txBody>
      </p:sp>
      <p:sp>
        <p:nvSpPr>
          <p:cNvPr id="3" name="TextBox 2"/>
          <p:cNvSpPr txBox="1"/>
          <p:nvPr/>
        </p:nvSpPr>
        <p:spPr>
          <a:xfrm>
            <a:off x="457200" y="1280160"/>
            <a:ext cx="11247120" cy="457200"/>
          </a:xfrm>
          <a:prstGeom prst="rect">
            <a:avLst/>
          </a:prstGeom>
          <a:noFill/>
        </p:spPr>
        <p:txBody>
          <a:bodyPr wrap="square">
            <a:spAutoFit/>
          </a:bodyPr>
          <a:lstStyle/>
          <a:p>
            <a:pPr>
              <a:defRPr sz="2000" b="1">
                <a:solidFill>
                  <a:srgbClr val="0B2A4A"/>
                </a:solidFill>
              </a:defRPr>
            </a:pPr>
            <a:r>
              <a:t>One shell script handles everything</a:t>
            </a:r>
          </a:p>
        </p:txBody>
      </p:sp>
      <p:sp>
        <p:nvSpPr>
          <p:cNvPr id="4" name="TextBox 3"/>
          <p:cNvSpPr txBox="1"/>
          <p:nvPr/>
        </p:nvSpPr>
        <p:spPr>
          <a:xfrm>
            <a:off x="457200" y="1828800"/>
            <a:ext cx="11247120" cy="3657600"/>
          </a:xfrm>
          <a:prstGeom prst="rect">
            <a:avLst/>
          </a:prstGeom>
          <a:noFill/>
        </p:spPr>
        <p:txBody>
          <a:bodyPr wrap="square">
            <a:spAutoFit/>
          </a:bodyPr>
          <a:lstStyle/>
          <a:p>
            <a:pPr>
              <a:spcAft>
                <a:spcPts val="800"/>
              </a:spcAft>
              <a:defRPr sz="1600">
                <a:solidFill>
                  <a:srgbClr val="555555"/>
                </a:solidFill>
              </a:defRPr>
            </a:pPr>
            <a:r>
              <a:t>•  Loads required Python modules via 'module load python3'</a:t>
            </a:r>
          </a:p>
          <a:p>
            <a:pPr>
              <a:spcAft>
                <a:spcPts val="800"/>
              </a:spcAft>
              <a:defRPr sz="1600">
                <a:solidFill>
                  <a:srgbClr val="555555"/>
                </a:solidFill>
              </a:defRPr>
            </a:pPr>
            <a:r>
              <a:t>•  Installs dependencies (pandas, scikit-learn, matplotlib, seaborn)</a:t>
            </a:r>
          </a:p>
          <a:p>
            <a:pPr>
              <a:spcAft>
                <a:spcPts val="800"/>
              </a:spcAft>
              <a:defRPr sz="1600">
                <a:solidFill>
                  <a:srgbClr val="555555"/>
                </a:solidFill>
              </a:defRPr>
            </a:pPr>
            <a:r>
              <a:t>•  Auto-downloads IoT-23 dataset from Kaggle</a:t>
            </a:r>
          </a:p>
          <a:p>
            <a:pPr>
              <a:spcAft>
                <a:spcPts val="800"/>
              </a:spcAft>
              <a:defRPr sz="1600">
                <a:solidFill>
                  <a:srgbClr val="555555"/>
                </a:solidFill>
              </a:defRPr>
            </a:pPr>
            <a:r>
              <a:t>•  Combines 23 CSV files into one dataset</a:t>
            </a:r>
          </a:p>
          <a:p>
            <a:pPr>
              <a:spcAft>
                <a:spcPts val="800"/>
              </a:spcAft>
              <a:defRPr sz="1600">
                <a:solidFill>
                  <a:srgbClr val="555555"/>
                </a:solidFill>
              </a:defRPr>
            </a:pPr>
            <a:r>
              <a:t>•  Runs the Python analysis pipeline</a:t>
            </a:r>
          </a:p>
          <a:p>
            <a:pPr>
              <a:spcAft>
                <a:spcPts val="800"/>
              </a:spcAft>
              <a:defRPr sz="1600">
                <a:solidFill>
                  <a:srgbClr val="555555"/>
                </a:solidFill>
              </a:defRPr>
            </a:pPr>
            <a:r>
              <a:t>•  Saves all charts and reports to results/ folder</a:t>
            </a:r>
          </a:p>
        </p:txBody>
      </p:sp>
      <p:sp>
        <p:nvSpPr>
          <p:cNvPr id="5" name="TextBox 4"/>
          <p:cNvSpPr txBox="1"/>
          <p:nvPr/>
        </p:nvSpPr>
        <p:spPr>
          <a:xfrm>
            <a:off x="457200" y="4754880"/>
            <a:ext cx="11247120" cy="365760"/>
          </a:xfrm>
          <a:prstGeom prst="rect">
            <a:avLst/>
          </a:prstGeom>
          <a:noFill/>
        </p:spPr>
        <p:txBody>
          <a:bodyPr wrap="square">
            <a:spAutoFit/>
          </a:bodyPr>
          <a:lstStyle/>
          <a:p>
            <a:pPr>
              <a:defRPr sz="1600" b="1">
                <a:solidFill>
                  <a:srgbClr val="0B2A4A"/>
                </a:solidFill>
              </a:defRPr>
            </a:pPr>
            <a:r>
              <a:t>Submit to ASAX scheduler:</a:t>
            </a:r>
          </a:p>
        </p:txBody>
      </p:sp>
      <p:sp>
        <p:nvSpPr>
          <p:cNvPr id="6" name="TextBox 5"/>
          <p:cNvSpPr txBox="1"/>
          <p:nvPr/>
        </p:nvSpPr>
        <p:spPr>
          <a:xfrm>
            <a:off x="457200" y="5212080"/>
            <a:ext cx="11247120" cy="365760"/>
          </a:xfrm>
          <a:prstGeom prst="rect">
            <a:avLst/>
          </a:prstGeom>
          <a:noFill/>
        </p:spPr>
        <p:txBody>
          <a:bodyPr wrap="square">
            <a:spAutoFit/>
          </a:bodyPr>
          <a:lstStyle/>
          <a:p>
            <a:pPr>
              <a:defRPr sz="1800" b="0">
                <a:solidFill>
                  <a:srgbClr val="C0392B"/>
                </a:solidFill>
              </a:defRPr>
            </a:pPr>
            <a:r>
              <a:t>    sbatch run_analysis.sh</a:t>
            </a:r>
          </a:p>
        </p:txBody>
      </p:sp>
      <p:sp>
        <p:nvSpPr>
          <p:cNvPr id="7" name="TextBox 6"/>
          <p:cNvSpPr txBox="1"/>
          <p:nvPr/>
        </p:nvSpPr>
        <p:spPr>
          <a:xfrm>
            <a:off x="457200" y="5852160"/>
            <a:ext cx="11247120" cy="365760"/>
          </a:xfrm>
          <a:prstGeom prst="rect">
            <a:avLst/>
          </a:prstGeom>
          <a:noFill/>
        </p:spPr>
        <p:txBody>
          <a:bodyPr wrap="square">
            <a:spAutoFit/>
          </a:bodyPr>
          <a:lstStyle/>
          <a:p>
            <a:pPr>
              <a:defRPr sz="1600" b="1">
                <a:solidFill>
                  <a:srgbClr val="0B2A4A"/>
                </a:solidFill>
              </a:defRPr>
            </a:pPr>
            <a:r>
              <a:t>Or run interactively:</a:t>
            </a:r>
          </a:p>
        </p:txBody>
      </p:sp>
      <p:sp>
        <p:nvSpPr>
          <p:cNvPr id="8" name="TextBox 7"/>
          <p:cNvSpPr txBox="1"/>
          <p:nvPr/>
        </p:nvSpPr>
        <p:spPr>
          <a:xfrm>
            <a:off x="457200" y="6263640"/>
            <a:ext cx="11247120" cy="365760"/>
          </a:xfrm>
          <a:prstGeom prst="rect">
            <a:avLst/>
          </a:prstGeom>
          <a:noFill/>
        </p:spPr>
        <p:txBody>
          <a:bodyPr wrap="square">
            <a:spAutoFit/>
          </a:bodyPr>
          <a:lstStyle/>
          <a:p>
            <a:pPr>
              <a:defRPr sz="1800" b="0">
                <a:solidFill>
                  <a:srgbClr val="C0392B"/>
                </a:solidFill>
              </a:defRPr>
            </a:pPr>
            <a:r>
              <a:t>    bash run_analysis.sh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none">
            <a:spAutoFit/>
          </a:bodyPr>
          <a:lstStyle/>
          <a:p>
            <a:pPr>
              <a:defRPr sz="3200" b="1">
                <a:solidFill>
                  <a:srgbClr val="0B2A4A"/>
                </a:solidFill>
              </a:defRPr>
            </a:pPr>
            <a:r>
              <a:t>Conclusion &amp; Demo</a:t>
            </a:r>
          </a:p>
        </p:txBody>
      </p:sp>
      <p:sp>
        <p:nvSpPr>
          <p:cNvPr id="3" name="TextBox 2"/>
          <p:cNvSpPr txBox="1"/>
          <p:nvPr/>
        </p:nvSpPr>
        <p:spPr>
          <a:xfrm>
            <a:off x="457200" y="1280160"/>
            <a:ext cx="11247120" cy="457200"/>
          </a:xfrm>
          <a:prstGeom prst="rect">
            <a:avLst/>
          </a:prstGeom>
          <a:noFill/>
        </p:spPr>
        <p:txBody>
          <a:bodyPr wrap="square">
            <a:spAutoFit/>
          </a:bodyPr>
          <a:lstStyle/>
          <a:p>
            <a:pPr>
              <a:defRPr sz="2200" b="1">
                <a:solidFill>
                  <a:srgbClr val="0B2A4A"/>
                </a:solidFill>
              </a:defRPr>
            </a:pPr>
            <a:r>
              <a:t>What We Built</a:t>
            </a:r>
          </a:p>
        </p:txBody>
      </p:sp>
      <p:sp>
        <p:nvSpPr>
          <p:cNvPr id="4" name="TextBox 3"/>
          <p:cNvSpPr txBox="1"/>
          <p:nvPr/>
        </p:nvSpPr>
        <p:spPr>
          <a:xfrm>
            <a:off x="457200" y="1828800"/>
            <a:ext cx="11247120" cy="1828800"/>
          </a:xfrm>
          <a:prstGeom prst="rect">
            <a:avLst/>
          </a:prstGeom>
          <a:noFill/>
        </p:spPr>
        <p:txBody>
          <a:bodyPr wrap="square">
            <a:spAutoFit/>
          </a:bodyPr>
          <a:lstStyle/>
          <a:p>
            <a:pPr>
              <a:spcAft>
                <a:spcPts val="800"/>
              </a:spcAft>
              <a:defRPr sz="1600">
                <a:solidFill>
                  <a:srgbClr val="555555"/>
                </a:solidFill>
              </a:defRPr>
            </a:pPr>
            <a:r>
              <a:t>•  A complete ML pipeline that detects IoT botnet attacks at 97.87% accuracy</a:t>
            </a:r>
          </a:p>
          <a:p>
            <a:pPr>
              <a:spcAft>
                <a:spcPts val="800"/>
              </a:spcAft>
              <a:defRPr sz="1600">
                <a:solidFill>
                  <a:srgbClr val="555555"/>
                </a:solidFill>
              </a:defRPr>
            </a:pPr>
            <a:r>
              <a:t>•  An automated Linux shell script ready for ASAX deployment</a:t>
            </a:r>
          </a:p>
          <a:p>
            <a:pPr>
              <a:spcAft>
                <a:spcPts val="800"/>
              </a:spcAft>
              <a:defRPr sz="1600">
                <a:solidFill>
                  <a:srgbClr val="555555"/>
                </a:solidFill>
              </a:defRPr>
            </a:pPr>
            <a:r>
              <a:t>•  Visual analysis of 1.88M network connections from real malware infections</a:t>
            </a:r>
          </a:p>
        </p:txBody>
      </p:sp>
      <p:sp>
        <p:nvSpPr>
          <p:cNvPr id="5" name="TextBox 4"/>
          <p:cNvSpPr txBox="1"/>
          <p:nvPr/>
        </p:nvSpPr>
        <p:spPr>
          <a:xfrm>
            <a:off x="457200" y="3840480"/>
            <a:ext cx="11247120" cy="457200"/>
          </a:xfrm>
          <a:prstGeom prst="rect">
            <a:avLst/>
          </a:prstGeom>
          <a:noFill/>
        </p:spPr>
        <p:txBody>
          <a:bodyPr wrap="square">
            <a:spAutoFit/>
          </a:bodyPr>
          <a:lstStyle/>
          <a:p>
            <a:pPr>
              <a:defRPr sz="2200" b="1">
                <a:solidFill>
                  <a:srgbClr val="0B2A4A"/>
                </a:solidFill>
              </a:defRPr>
            </a:pPr>
            <a:r>
              <a:t>Why It Matters</a:t>
            </a:r>
          </a:p>
        </p:txBody>
      </p:sp>
      <p:sp>
        <p:nvSpPr>
          <p:cNvPr id="6" name="TextBox 5"/>
          <p:cNvSpPr txBox="1"/>
          <p:nvPr/>
        </p:nvSpPr>
        <p:spPr>
          <a:xfrm>
            <a:off x="457200" y="4389120"/>
            <a:ext cx="11247120" cy="1371600"/>
          </a:xfrm>
          <a:prstGeom prst="rect">
            <a:avLst/>
          </a:prstGeom>
          <a:noFill/>
        </p:spPr>
        <p:txBody>
          <a:bodyPr wrap="square">
            <a:spAutoFit/>
          </a:bodyPr>
          <a:lstStyle/>
          <a:p>
            <a:pPr>
              <a:defRPr sz="1600" b="0">
                <a:solidFill>
                  <a:srgbClr val="555555"/>
                </a:solidFill>
              </a:defRPr>
            </a:pPr>
            <a:r>
              <a:t>IoT security is one of the fastest growing threats in cybersecurity. The same techniques used here protect real networks from real attacks.</a:t>
            </a:r>
          </a:p>
        </p:txBody>
      </p:sp>
      <p:sp>
        <p:nvSpPr>
          <p:cNvPr id="7" name="TextBox 6"/>
          <p:cNvSpPr txBox="1"/>
          <p:nvPr/>
        </p:nvSpPr>
        <p:spPr>
          <a:xfrm>
            <a:off x="457200" y="6035040"/>
            <a:ext cx="11247120" cy="457200"/>
          </a:xfrm>
          <a:prstGeom prst="rect">
            <a:avLst/>
          </a:prstGeom>
          <a:noFill/>
        </p:spPr>
        <p:txBody>
          <a:bodyPr wrap="square">
            <a:spAutoFit/>
          </a:bodyPr>
          <a:lstStyle/>
          <a:p>
            <a:pPr algn="ctr">
              <a:defRPr sz="1800" b="1">
                <a:solidFill>
                  <a:srgbClr val="C0392B"/>
                </a:solidFill>
              </a:defRPr>
            </a:pPr>
            <a:r>
              <a:t>Live Demo  →  github.com/ibrahimt39/AAMU-Linux-Project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